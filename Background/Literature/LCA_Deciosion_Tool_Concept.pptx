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04" r:id="rId2"/>
    <p:sldId id="276" r:id="rId3"/>
    <p:sldId id="316" r:id="rId4"/>
    <p:sldId id="317" r:id="rId5"/>
    <p:sldId id="319" r:id="rId6"/>
    <p:sldId id="320" r:id="rId7"/>
    <p:sldId id="318" r:id="rId8"/>
    <p:sldId id="321" r:id="rId9"/>
    <p:sldId id="322" r:id="rId10"/>
    <p:sldId id="323" r:id="rId11"/>
    <p:sldId id="315" r:id="rId12"/>
  </p:sldIdLst>
  <p:sldSz cx="8999538" cy="5040313"/>
  <p:notesSz cx="6858000" cy="9926638"/>
  <p:defaultTextStyle>
    <a:defPPr rtl="0">
      <a:defRPr lang="pl-PL"/>
    </a:defPPr>
    <a:lvl1pPr marL="0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1pPr>
    <a:lvl2pPr marL="336934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2pPr>
    <a:lvl3pPr marL="673867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3pPr>
    <a:lvl4pPr marL="1010801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4pPr>
    <a:lvl5pPr marL="1347734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5pPr>
    <a:lvl6pPr marL="1684668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6pPr>
    <a:lvl7pPr marL="2021601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7pPr>
    <a:lvl8pPr marL="2358535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8pPr>
    <a:lvl9pPr marL="2695468" algn="l" defTabSz="673867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aid" id="{59E80216-9BD1-49BD-876E-1B1A2F18378A}">
          <p14:sldIdLst>
            <p14:sldId id="304"/>
          </p14:sldIdLst>
        </p14:section>
        <p14:section name="Outline" id="{A5E76A7E-DE3F-4683-BBC5-82BD2E378362}">
          <p14:sldIdLst>
            <p14:sldId id="276"/>
            <p14:sldId id="316"/>
            <p14:sldId id="317"/>
            <p14:sldId id="319"/>
            <p14:sldId id="320"/>
            <p14:sldId id="318"/>
            <p14:sldId id="321"/>
            <p14:sldId id="322"/>
            <p14:sldId id="323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pos="2835" userDrawn="1">
          <p15:clr>
            <a:srgbClr val="A4A3A4"/>
          </p15:clr>
        </p15:guide>
        <p15:guide id="2" pos="5102" userDrawn="1">
          <p15:clr>
            <a:srgbClr val="A4A3A4"/>
          </p15:clr>
        </p15:guide>
        <p15:guide id="3" pos="567" userDrawn="1">
          <p15:clr>
            <a:srgbClr val="A4A3A4"/>
          </p15:clr>
        </p15:guide>
        <p15:guide id="4" orient="horz" pos="15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429"/>
    <a:srgbClr val="FAC867"/>
    <a:srgbClr val="D07107"/>
    <a:srgbClr val="496254"/>
    <a:srgbClr val="8CC63E"/>
    <a:srgbClr val="293910"/>
    <a:srgbClr val="FBFFEF"/>
    <a:srgbClr val="F8FFDE"/>
    <a:srgbClr val="9BAFB8"/>
    <a:srgbClr val="9B5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77" autoAdjust="0"/>
    <p:restoredTop sz="96400" autoAdjust="0"/>
  </p:normalViewPr>
  <p:slideViewPr>
    <p:cSldViewPr>
      <p:cViewPr varScale="1">
        <p:scale>
          <a:sx n="159" d="100"/>
          <a:sy n="159" d="100"/>
        </p:scale>
        <p:origin x="184" y="192"/>
      </p:cViewPr>
      <p:guideLst>
        <p:guide pos="2835"/>
        <p:guide pos="5102"/>
        <p:guide pos="567"/>
        <p:guide orient="horz" pos="15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241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2016-09-08</a:t>
            </a:r>
            <a:endParaRPr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BAE14B8-3CC9-472D-9BC5-A84D80684DE2}" type="slidenum">
              <a:r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2016-09-08</a:t>
            </a:r>
            <a:endParaRPr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41425"/>
            <a:ext cx="5978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777195"/>
            <a:ext cx="5486400" cy="3350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Kliknij, aby edytować style wzorca tekstu</a:t>
            </a:r>
          </a:p>
          <a:p>
            <a:pPr lvl="1" rtl="0"/>
            <a:r>
              <a:t>Drugi poziom</a:t>
            </a:r>
          </a:p>
          <a:p>
            <a:pPr lvl="2" rtl="0"/>
            <a:r>
              <a:t>Trzeci poziom</a:t>
            </a:r>
          </a:p>
          <a:p>
            <a:pPr lvl="3" rtl="0"/>
            <a:r>
              <a:t>Czwarty poziom</a:t>
            </a:r>
          </a:p>
          <a:p>
            <a:pPr lvl="4" rtl="0"/>
            <a:r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FB667E1-E601-4AAF-B95C-B25720D70A60}" type="slidenum">
              <a:r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1pPr>
    <a:lvl2pPr marL="336934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2pPr>
    <a:lvl3pPr marL="673867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3pPr>
    <a:lvl4pPr marL="1010801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4pPr>
    <a:lvl5pPr marL="1347734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5pPr>
    <a:lvl6pPr marL="1684668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6pPr>
    <a:lvl7pPr marL="2021601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7pPr>
    <a:lvl8pPr marL="2358535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8pPr>
    <a:lvl9pPr marL="2695468" algn="l" defTabSz="673867" rtl="0" eaLnBrk="1" latinLnBrk="0" hangingPunct="1">
      <a:defRPr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14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51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35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71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2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27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0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>
          <a:xfrm>
            <a:off x="439738" y="1241425"/>
            <a:ext cx="5978525" cy="3349625"/>
          </a:xfrm>
        </p:spPr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8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Mas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filiation"/>
          <p:cNvSpPr>
            <a:spLocks noGrp="1"/>
          </p:cNvSpPr>
          <p:nvPr>
            <p:ph sz="half" idx="2" hasCustomPrompt="1"/>
          </p:nvPr>
        </p:nvSpPr>
        <p:spPr>
          <a:xfrm>
            <a:off x="1008000" y="3240000"/>
            <a:ext cx="4320000" cy="720000"/>
          </a:xfrm>
        </p:spPr>
        <p:txBody>
          <a:bodyPr rtlCol="0" anchor="ctr">
            <a:normAutofit/>
          </a:bodyPr>
          <a:lstStyle>
            <a:lvl1pPr marL="0" marR="0" indent="0" algn="ctr" defTabSz="672015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80000"/>
              <a:buFontTx/>
              <a:buNone/>
              <a:tabLst/>
              <a:defRPr sz="1100">
                <a:solidFill>
                  <a:srgbClr val="293910"/>
                </a:solidFill>
              </a:defRPr>
            </a:lvl1pPr>
            <a:lvl2pPr algn="l" rtl="0">
              <a:defRPr sz="1323"/>
            </a:lvl2pPr>
            <a:lvl3pPr algn="l" rtl="0">
              <a:defRPr sz="1176"/>
            </a:lvl3pPr>
            <a:lvl4pPr algn="l" rtl="0">
              <a:defRPr sz="1029"/>
            </a:lvl4pPr>
            <a:lvl5pPr algn="l" rtl="0">
              <a:defRPr sz="1029"/>
            </a:lvl5pPr>
            <a:lvl6pPr algn="l" rtl="0">
              <a:defRPr sz="1029"/>
            </a:lvl6pPr>
            <a:lvl7pPr algn="l" rtl="0">
              <a:defRPr sz="1029"/>
            </a:lvl7pPr>
            <a:lvl8pPr algn="l" rtl="0">
              <a:defRPr sz="1029"/>
            </a:lvl8pPr>
            <a:lvl9pPr algn="l" rtl="0">
              <a:defRPr sz="1029"/>
            </a:lvl9pPr>
          </a:lstStyle>
          <a:p>
            <a:pPr marL="33601" marR="0" lvl="0" indent="0" algn="l" defTabSz="672015" rtl="0" eaLnBrk="1" fontAlgn="auto" latinLnBrk="0" hangingPunct="1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tx2"/>
              </a:buClr>
              <a:buSzPct val="80000"/>
              <a:buFontTx/>
              <a:buNone/>
              <a:tabLst/>
              <a:defRPr/>
            </a:pPr>
            <a:r>
              <a:rPr lang="en-GB" noProof="0" dirty="0"/>
              <a:t>Double-click to edit the affiliation template style</a:t>
            </a:r>
          </a:p>
        </p:txBody>
      </p:sp>
      <p:sp>
        <p:nvSpPr>
          <p:cNvPr id="3" name="Author"/>
          <p:cNvSpPr>
            <a:spLocks noGrp="1"/>
          </p:cNvSpPr>
          <p:nvPr>
            <p:ph sz="half" idx="1" hasCustomPrompt="1"/>
          </p:nvPr>
        </p:nvSpPr>
        <p:spPr>
          <a:xfrm>
            <a:off x="1008000" y="2700000"/>
            <a:ext cx="4320000" cy="540000"/>
          </a:xfrm>
        </p:spPr>
        <p:txBody>
          <a:bodyPr rtlCol="0" anchor="ctr" anchorCtr="0">
            <a:normAutofit/>
          </a:bodyPr>
          <a:lstStyle>
            <a:lvl1pPr marL="33601" indent="0" algn="ctr" rtl="0">
              <a:buFontTx/>
              <a:buNone/>
              <a:defRPr sz="1400">
                <a:solidFill>
                  <a:srgbClr val="293910"/>
                </a:solidFill>
              </a:defRPr>
            </a:lvl1pPr>
            <a:lvl2pPr marL="268806" indent="0" algn="l" rtl="0">
              <a:buFontTx/>
              <a:buNone/>
              <a:defRPr sz="1323"/>
            </a:lvl2pPr>
            <a:lvl3pPr marL="504011" indent="0" algn="l" rtl="0">
              <a:buFontTx/>
              <a:buNone/>
              <a:defRPr sz="1176"/>
            </a:lvl3pPr>
            <a:lvl4pPr marL="739217" indent="0" algn="l" rtl="0">
              <a:buFontTx/>
              <a:buNone/>
              <a:defRPr sz="1029"/>
            </a:lvl4pPr>
            <a:lvl5pPr marL="974422" indent="0" algn="l" rtl="0">
              <a:buFontTx/>
              <a:buNone/>
              <a:defRPr sz="1029"/>
            </a:lvl5pPr>
            <a:lvl6pPr algn="l" rtl="0">
              <a:defRPr sz="1029"/>
            </a:lvl6pPr>
            <a:lvl7pPr algn="l" rtl="0">
              <a:defRPr sz="1029"/>
            </a:lvl7pPr>
            <a:lvl8pPr algn="l" rtl="0">
              <a:defRPr sz="1029"/>
            </a:lvl8pPr>
            <a:lvl9pPr algn="l" rtl="0">
              <a:defRPr sz="1029"/>
            </a:lvl9pPr>
          </a:lstStyle>
          <a:p>
            <a:pPr lvl="0" rtl="0"/>
            <a:r>
              <a:rPr lang="en-GB" noProof="0" dirty="0"/>
              <a:t>Double-click to edit the author template style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08000" y="1368028"/>
            <a:ext cx="4320000" cy="1331972"/>
          </a:xfrm>
        </p:spPr>
        <p:txBody>
          <a:bodyPr rtlCol="0" anchor="ctr" anchorCtr="0"/>
          <a:lstStyle>
            <a:lvl1pPr algn="ctr" rtl="0">
              <a:defRPr>
                <a:solidFill>
                  <a:srgbClr val="293910"/>
                </a:solidFill>
              </a:defRPr>
            </a:lvl1pPr>
          </a:lstStyle>
          <a:p>
            <a:pPr rtl="0"/>
            <a:r>
              <a:rPr lang="en-GB" noProof="0" dirty="0"/>
              <a:t>Double-click to edit the title</a:t>
            </a:r>
          </a:p>
        </p:txBody>
      </p:sp>
      <p:pic>
        <p:nvPicPr>
          <p:cNvPr id="10" name="PP logos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" y="4428000"/>
            <a:ext cx="7200000" cy="504000"/>
          </a:xfrm>
          <a:prstGeom prst="rect">
            <a:avLst/>
          </a:prstGeom>
        </p:spPr>
      </p:pic>
      <p:pic>
        <p:nvPicPr>
          <p:cNvPr id="14" name="Obraz 13"/>
          <p:cNvPicPr>
            <a:picLocks noChangeAspect="1"/>
          </p:cNvPicPr>
          <p:nvPr userDrawn="1"/>
        </p:nvPicPr>
        <p:blipFill>
          <a:blip r:embed="rId3" cstate="print">
            <a:lum bright="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303" y="972000"/>
            <a:ext cx="2511393" cy="3348000"/>
          </a:xfrm>
          <a:prstGeom prst="rect">
            <a:avLst/>
          </a:prstGeom>
          <a:noFill/>
          <a:ln>
            <a:noFill/>
          </a:ln>
          <a:effectLst>
            <a:outerShdw blurRad="317500" dist="127000" algn="l" rotWithShape="0">
              <a:prstClr val="black">
                <a:alpha val="40000"/>
              </a:prstClr>
            </a:outerShdw>
            <a:softEdge rad="31750"/>
          </a:effectLst>
        </p:spPr>
      </p:pic>
      <p:pic>
        <p:nvPicPr>
          <p:cNvPr id="6" name="Obraz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0" y="71514"/>
            <a:ext cx="4554636" cy="113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of slide"/>
          <p:cNvSpPr>
            <a:spLocks noGrp="1"/>
          </p:cNvSpPr>
          <p:nvPr>
            <p:ph type="title"/>
          </p:nvPr>
        </p:nvSpPr>
        <p:spPr>
          <a:xfrm>
            <a:off x="1080000" y="180000"/>
            <a:ext cx="7092000" cy="7200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3" name="Slide content"/>
          <p:cNvSpPr>
            <a:spLocks noGrp="1"/>
          </p:cNvSpPr>
          <p:nvPr>
            <p:ph idx="1"/>
          </p:nvPr>
        </p:nvSpPr>
        <p:spPr>
          <a:xfrm>
            <a:off x="900000" y="1259999"/>
            <a:ext cx="7200000" cy="3060000"/>
          </a:xfrm>
        </p:spPr>
        <p:txBody>
          <a:bodyPr rtlCol="0"/>
          <a:lstStyle>
            <a:lvl1pPr>
              <a:defRPr>
                <a:solidFill>
                  <a:srgbClr val="293910"/>
                </a:solidFill>
              </a:defRPr>
            </a:lvl1pPr>
            <a:lvl2pPr>
              <a:defRPr>
                <a:solidFill>
                  <a:srgbClr val="293910"/>
                </a:solidFill>
              </a:defRPr>
            </a:lvl2pPr>
            <a:lvl3pPr>
              <a:defRPr>
                <a:solidFill>
                  <a:srgbClr val="293910"/>
                </a:solidFill>
              </a:defRPr>
            </a:lvl3pPr>
            <a:lvl4pPr>
              <a:defRPr>
                <a:solidFill>
                  <a:srgbClr val="293910"/>
                </a:solidFill>
              </a:defRPr>
            </a:lvl4pPr>
            <a:lvl5pPr>
              <a:defRPr>
                <a:solidFill>
                  <a:srgbClr val="293910"/>
                </a:solidFill>
              </a:defRPr>
            </a:lvl5pPr>
            <a:lvl6pPr algn="l" rtl="0">
              <a:defRPr/>
            </a:lvl6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/>
          </a:p>
        </p:txBody>
      </p:sp>
      <p:sp>
        <p:nvSpPr>
          <p:cNvPr id="5" name="Footer text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2016-09-08</a:t>
            </a:r>
            <a:endParaRPr lang="pl-PL" dirty="0"/>
          </a:p>
        </p:txBody>
      </p:sp>
      <p:sp>
        <p:nvSpPr>
          <p:cNvPr id="7" name="Slide no."/>
          <p:cNvSpPr>
            <a:spLocks noGrp="1"/>
          </p:cNvSpPr>
          <p:nvPr>
            <p:ph type="sldNum" sz="quarter" idx="12"/>
          </p:nvPr>
        </p:nvSpPr>
        <p:spPr>
          <a:xfrm>
            <a:off x="6804025" y="4680000"/>
            <a:ext cx="472476" cy="174731"/>
          </a:xfrm>
        </p:spPr>
        <p:txBody>
          <a:bodyPr rtlCol="0"/>
          <a:lstStyle>
            <a:lvl1pPr>
              <a:defRPr sz="900" b="1"/>
            </a:lvl1pPr>
          </a:lstStyle>
          <a:p>
            <a:fld id="{CA8D9AD5-F248-4919-864A-CFD76CC027D6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of slide"/>
          <p:cNvSpPr>
            <a:spLocks noGrp="1"/>
          </p:cNvSpPr>
          <p:nvPr>
            <p:ph type="title"/>
          </p:nvPr>
        </p:nvSpPr>
        <p:spPr>
          <a:xfrm>
            <a:off x="1080000" y="180000"/>
            <a:ext cx="7092000" cy="7200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3" name="Slide content"/>
          <p:cNvSpPr>
            <a:spLocks noGrp="1"/>
          </p:cNvSpPr>
          <p:nvPr>
            <p:ph idx="1"/>
          </p:nvPr>
        </p:nvSpPr>
        <p:spPr>
          <a:xfrm>
            <a:off x="900000" y="1259999"/>
            <a:ext cx="7200000" cy="3060000"/>
          </a:xfrm>
        </p:spPr>
        <p:txBody>
          <a:bodyPr rtlCol="0"/>
          <a:lstStyle>
            <a:lvl1pPr marL="342900" indent="-342900">
              <a:buFont typeface="+mj-lt"/>
              <a:buAutoNum type="romanUcPeriod"/>
              <a:defRPr>
                <a:solidFill>
                  <a:srgbClr val="293910"/>
                </a:solidFill>
              </a:defRPr>
            </a:lvl1pPr>
            <a:lvl2pPr marL="522900" indent="-342900">
              <a:buFont typeface="+mj-lt"/>
              <a:buAutoNum type="alphaUcPeriod"/>
              <a:defRPr>
                <a:solidFill>
                  <a:srgbClr val="293910"/>
                </a:solidFill>
              </a:defRPr>
            </a:lvl2pPr>
            <a:lvl3pPr marL="588600" indent="-228600">
              <a:buFont typeface="+mj-lt"/>
              <a:buAutoNum type="arabicPeriod"/>
              <a:defRPr>
                <a:solidFill>
                  <a:srgbClr val="293910"/>
                </a:solidFill>
              </a:defRPr>
            </a:lvl3pPr>
            <a:lvl4pPr marL="768600" indent="-228600">
              <a:buFont typeface="+mj-lt"/>
              <a:buAutoNum type="alphaLcPeriod"/>
              <a:defRPr>
                <a:solidFill>
                  <a:srgbClr val="293910"/>
                </a:solidFill>
              </a:defRPr>
            </a:lvl4pPr>
            <a:lvl5pPr marL="1203022" indent="-228600">
              <a:buFont typeface="+mj-lt"/>
              <a:buAutoNum type="alphaLcParenR"/>
              <a:defRPr>
                <a:solidFill>
                  <a:srgbClr val="293910"/>
                </a:solidFill>
              </a:defRPr>
            </a:lvl5pPr>
            <a:lvl6pPr algn="l" rtl="0">
              <a:defRPr/>
            </a:lvl6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5" name="Footer text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2016-09-08</a:t>
            </a:r>
            <a:endParaRPr lang="pl-PL" dirty="0"/>
          </a:p>
        </p:txBody>
      </p:sp>
      <p:sp>
        <p:nvSpPr>
          <p:cNvPr id="7" name="Slide no."/>
          <p:cNvSpPr>
            <a:spLocks noGrp="1"/>
          </p:cNvSpPr>
          <p:nvPr>
            <p:ph type="sldNum" sz="quarter" idx="12"/>
          </p:nvPr>
        </p:nvSpPr>
        <p:spPr>
          <a:xfrm>
            <a:off x="6804025" y="4680000"/>
            <a:ext cx="472476" cy="174731"/>
          </a:xfrm>
        </p:spPr>
        <p:txBody>
          <a:bodyPr rtlCol="0"/>
          <a:lstStyle>
            <a:lvl1pPr>
              <a:defRPr sz="900" b="1"/>
            </a:lvl1pPr>
          </a:lstStyle>
          <a:p>
            <a:fld id="{CA8D9AD5-F248-4919-864A-CFD76CC027D6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442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of slid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pl-PL"/>
          </a:p>
        </p:txBody>
      </p:sp>
      <p:sp>
        <p:nvSpPr>
          <p:cNvPr id="3" name="Footer text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insert footer text</a:t>
            </a:r>
            <a:endParaRPr lang="en-US" dirty="0"/>
          </a:p>
        </p:txBody>
      </p:sp>
      <p:sp>
        <p:nvSpPr>
          <p:cNvPr id="4" name="Date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pl-PL"/>
              <a:t>2016-09-08</a:t>
            </a:r>
            <a:endParaRPr lang="en-US" dirty="0"/>
          </a:p>
        </p:txBody>
      </p:sp>
      <p:sp>
        <p:nvSpPr>
          <p:cNvPr id="5" name="Slide no.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5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1260000" y="2160000"/>
            <a:ext cx="6480000" cy="720000"/>
          </a:xfrm>
        </p:spPr>
        <p:txBody>
          <a:bodyPr rtlCol="0" anchor="ctr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336008" indent="0" algn="l" rtl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72015" indent="0" algn="l" rtl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3pPr>
            <a:lvl4pPr marL="1008023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4pPr>
            <a:lvl5pPr marL="1344031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5pPr>
            <a:lvl6pPr marL="1680039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6pPr>
            <a:lvl7pPr marL="2016046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7pPr>
            <a:lvl8pPr marL="2352054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8pPr>
            <a:lvl9pPr marL="2688062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dirty="0"/>
              <a:t>Double-click to edit the title</a:t>
            </a:r>
            <a:r>
              <a:rPr lang="pl-PL" dirty="0"/>
              <a:t> of the </a:t>
            </a:r>
            <a:r>
              <a:rPr lang="pl-PL" dirty="0" err="1"/>
              <a:t>section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89949" y="180000"/>
            <a:ext cx="7019640" cy="7200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989948" y="1260000"/>
            <a:ext cx="3420000" cy="5400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17" b="0" cap="none" baseline="0">
                <a:solidFill>
                  <a:srgbClr val="293910"/>
                </a:solidFill>
              </a:defRPr>
            </a:lvl1pPr>
            <a:lvl2pPr marL="336008" indent="0" algn="l" rtl="0">
              <a:buNone/>
              <a:defRPr sz="1470" b="1"/>
            </a:lvl2pPr>
            <a:lvl3pPr marL="672015" indent="0" algn="l" rtl="0">
              <a:buNone/>
              <a:defRPr sz="1323" b="1"/>
            </a:lvl3pPr>
            <a:lvl4pPr marL="1008023" indent="0" algn="l" rtl="0">
              <a:buNone/>
              <a:defRPr sz="1176" b="1"/>
            </a:lvl4pPr>
            <a:lvl5pPr marL="1344031" indent="0" algn="l" rtl="0">
              <a:buNone/>
              <a:defRPr sz="1176" b="1"/>
            </a:lvl5pPr>
            <a:lvl6pPr marL="1680039" indent="0" algn="l" rtl="0">
              <a:buNone/>
              <a:defRPr sz="1176" b="1"/>
            </a:lvl6pPr>
            <a:lvl7pPr marL="2016046" indent="0" algn="l" rtl="0">
              <a:buNone/>
              <a:defRPr sz="1176" b="1"/>
            </a:lvl7pPr>
            <a:lvl8pPr marL="2352054" indent="0" algn="l" rtl="0">
              <a:buNone/>
              <a:defRPr sz="1176" b="1"/>
            </a:lvl8pPr>
            <a:lvl9pPr marL="2688062" indent="0" algn="l" rtl="0">
              <a:buNone/>
              <a:defRPr sz="1176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989949" y="1980000"/>
            <a:ext cx="3374827" cy="2340000"/>
          </a:xfrm>
        </p:spPr>
        <p:txBody>
          <a:bodyPr rtlCol="0">
            <a:normAutofit/>
          </a:bodyPr>
          <a:lstStyle>
            <a:lvl1pPr algn="l" rtl="0">
              <a:defRPr sz="1323"/>
            </a:lvl1pPr>
            <a:lvl2pPr algn="l" rtl="0">
              <a:defRPr sz="1176"/>
            </a:lvl2pPr>
            <a:lvl3pPr algn="l" rtl="0">
              <a:defRPr sz="1029"/>
            </a:lvl3pPr>
            <a:lvl4pPr algn="l" rtl="0">
              <a:defRPr sz="882"/>
            </a:lvl4pPr>
            <a:lvl5pPr algn="l" rtl="0">
              <a:defRPr sz="882"/>
            </a:lvl5pPr>
            <a:lvl6pPr algn="l" rtl="0">
              <a:defRPr sz="882"/>
            </a:lvl6pPr>
            <a:lvl7pPr algn="l" rtl="0">
              <a:defRPr sz="882"/>
            </a:lvl7pPr>
            <a:lvl8pPr algn="l" rtl="0">
              <a:defRPr sz="882"/>
            </a:lvl8pPr>
            <a:lvl9pPr algn="l" rtl="0">
              <a:defRPr sz="882"/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dirty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4608000" y="1260000"/>
            <a:ext cx="3420000" cy="5400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17" b="0" cap="none" baseline="0"/>
            </a:lvl1pPr>
            <a:lvl2pPr marL="336008" indent="0" algn="l" rtl="0">
              <a:buNone/>
              <a:defRPr sz="1470" b="1"/>
            </a:lvl2pPr>
            <a:lvl3pPr marL="672015" indent="0" algn="l" rtl="0">
              <a:buNone/>
              <a:defRPr sz="1323" b="1"/>
            </a:lvl3pPr>
            <a:lvl4pPr marL="1008023" indent="0" algn="l" rtl="0">
              <a:buNone/>
              <a:defRPr sz="1176" b="1"/>
            </a:lvl4pPr>
            <a:lvl5pPr marL="1344031" indent="0" algn="l" rtl="0">
              <a:buNone/>
              <a:defRPr sz="1176" b="1"/>
            </a:lvl5pPr>
            <a:lvl6pPr marL="1680039" indent="0" algn="l" rtl="0">
              <a:buNone/>
              <a:defRPr sz="1176" b="1"/>
            </a:lvl6pPr>
            <a:lvl7pPr marL="2016046" indent="0" algn="l" rtl="0">
              <a:buNone/>
              <a:defRPr sz="1176" b="1"/>
            </a:lvl7pPr>
            <a:lvl8pPr marL="2352054" indent="0" algn="l" rtl="0">
              <a:buNone/>
              <a:defRPr sz="1176" b="1"/>
            </a:lvl8pPr>
            <a:lvl9pPr marL="2688062" indent="0" algn="l" rtl="0">
              <a:buNone/>
              <a:defRPr sz="1176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4634762" y="1980000"/>
            <a:ext cx="3374827" cy="2340000"/>
          </a:xfrm>
        </p:spPr>
        <p:txBody>
          <a:bodyPr rtlCol="0">
            <a:normAutofit/>
          </a:bodyPr>
          <a:lstStyle>
            <a:lvl1pPr algn="l" rtl="0">
              <a:defRPr sz="1323"/>
            </a:lvl1pPr>
            <a:lvl2pPr algn="l" rtl="0">
              <a:defRPr sz="1176"/>
            </a:lvl2pPr>
            <a:lvl3pPr algn="l" rtl="0">
              <a:defRPr sz="1029"/>
            </a:lvl3pPr>
            <a:lvl4pPr algn="l" rtl="0">
              <a:defRPr sz="882"/>
            </a:lvl4pPr>
            <a:lvl5pPr algn="l" rtl="0">
              <a:defRPr sz="882"/>
            </a:lvl5pPr>
            <a:lvl6pPr algn="l" rtl="0">
              <a:defRPr sz="882"/>
            </a:lvl6pPr>
            <a:lvl7pPr algn="l" rtl="0">
              <a:defRPr sz="882"/>
            </a:lvl7pPr>
            <a:lvl8pPr algn="l" rtl="0">
              <a:defRPr sz="882"/>
            </a:lvl8pPr>
            <a:lvl9pPr algn="l" rtl="0">
              <a:defRPr sz="882"/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insert footer text</a:t>
            </a:r>
            <a:endParaRPr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2016-09-08</a:t>
            </a:r>
            <a:endParaRPr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90000" y="180000"/>
            <a:ext cx="7020000" cy="720000"/>
          </a:xfrm>
        </p:spPr>
        <p:txBody>
          <a:bodyPr rtlCol="0" anchor="ctr">
            <a:normAutofit/>
          </a:bodyPr>
          <a:lstStyle>
            <a:lvl1pPr algn="l" rtl="0">
              <a:defRPr sz="2499" b="0"/>
            </a:lvl1pPr>
          </a:lstStyle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03999" y="1260000"/>
            <a:ext cx="2340000" cy="3060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882"/>
              </a:spcBef>
              <a:buNone/>
              <a:defRPr sz="1176"/>
            </a:lvl1pPr>
            <a:lvl2pPr marL="336008" indent="0" algn="l" rtl="0">
              <a:buNone/>
              <a:defRPr sz="882"/>
            </a:lvl2pPr>
            <a:lvl3pPr marL="672015" indent="0" algn="l" rtl="0">
              <a:buNone/>
              <a:defRPr sz="735"/>
            </a:lvl3pPr>
            <a:lvl4pPr marL="1008023" indent="0" algn="l" rtl="0">
              <a:buNone/>
              <a:defRPr sz="661"/>
            </a:lvl4pPr>
            <a:lvl5pPr marL="1344031" indent="0" algn="l" rtl="0">
              <a:buNone/>
              <a:defRPr sz="661"/>
            </a:lvl5pPr>
            <a:lvl6pPr marL="1680039" indent="0" algn="l" rtl="0">
              <a:buNone/>
              <a:defRPr sz="661"/>
            </a:lvl6pPr>
            <a:lvl7pPr marL="2016046" indent="0" algn="l" rtl="0">
              <a:buNone/>
              <a:defRPr sz="661"/>
            </a:lvl7pPr>
            <a:lvl8pPr marL="2352054" indent="0" algn="l" rtl="0">
              <a:buNone/>
              <a:defRPr sz="661"/>
            </a:lvl8pPr>
            <a:lvl9pPr marL="2688062" indent="0" algn="l" rtl="0">
              <a:buNone/>
              <a:defRPr sz="66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3059999" y="1260000"/>
            <a:ext cx="5364000" cy="3060000"/>
          </a:xfrm>
        </p:spPr>
        <p:txBody>
          <a:bodyPr rtlCol="0">
            <a:normAutofit/>
          </a:bodyPr>
          <a:lstStyle>
            <a:lvl1pPr algn="l" rtl="0">
              <a:defRPr sz="1470"/>
            </a:lvl1pPr>
            <a:lvl2pPr algn="l" rtl="0">
              <a:defRPr sz="1323"/>
            </a:lvl2pPr>
            <a:lvl3pPr algn="l" rtl="0">
              <a:defRPr sz="1176"/>
            </a:lvl3pPr>
            <a:lvl4pPr algn="l" rtl="0">
              <a:defRPr sz="1029"/>
            </a:lvl4pPr>
            <a:lvl5pPr algn="l" rtl="0">
              <a:defRPr sz="1029"/>
            </a:lvl5pPr>
            <a:lvl6pPr algn="l" rtl="0">
              <a:defRPr sz="1029"/>
            </a:lvl6pPr>
            <a:lvl7pPr algn="l" rtl="0">
              <a:defRPr sz="1029"/>
            </a:lvl7pPr>
            <a:lvl8pPr algn="l" rtl="0">
              <a:defRPr sz="1029"/>
            </a:lvl8pPr>
            <a:lvl9pPr algn="l" rtl="0">
              <a:defRPr sz="1029"/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insert footer text</a:t>
            </a:r>
            <a:endParaRPr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2016-09-08</a:t>
            </a:r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, Acknowledg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roject partner logos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" y="4428000"/>
            <a:ext cx="7200000" cy="504000"/>
          </a:xfrm>
          <a:prstGeom prst="rect">
            <a:avLst/>
          </a:prstGeom>
        </p:spPr>
      </p:pic>
      <p:pic>
        <p:nvPicPr>
          <p:cNvPr id="8" name="Programme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993" y="215900"/>
            <a:ext cx="2207166" cy="464190"/>
          </a:xfrm>
          <a:prstGeom prst="rect">
            <a:avLst/>
          </a:prstGeom>
        </p:spPr>
      </p:pic>
      <p:pic>
        <p:nvPicPr>
          <p:cNvPr id="9" name="Project logo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2" y="171371"/>
            <a:ext cx="2016224" cy="701295"/>
          </a:xfrm>
          <a:prstGeom prst="rect">
            <a:avLst/>
          </a:prstGeom>
        </p:spPr>
      </p:pic>
      <p:sp>
        <p:nvSpPr>
          <p:cNvPr id="12" name="Acknowledgements"/>
          <p:cNvSpPr>
            <a:spLocks noGrp="1"/>
          </p:cNvSpPr>
          <p:nvPr>
            <p:ph type="body" idx="10" hasCustomPrompt="1"/>
          </p:nvPr>
        </p:nvSpPr>
        <p:spPr>
          <a:xfrm>
            <a:off x="900000" y="3621959"/>
            <a:ext cx="7200000" cy="648000"/>
          </a:xfrm>
          <a:noFill/>
          <a:effectLst/>
        </p:spPr>
        <p:txBody>
          <a:bodyPr rtlCol="0" anchor="ctr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 b="1" cap="none" baseline="0">
                <a:solidFill>
                  <a:srgbClr val="496254"/>
                </a:solidFill>
              </a:defRPr>
            </a:lvl1pPr>
            <a:lvl2pPr marL="336008" indent="0" algn="l" rtl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72015" indent="0" algn="l" rtl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3pPr>
            <a:lvl4pPr marL="1008023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4pPr>
            <a:lvl5pPr marL="1344031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5pPr>
            <a:lvl6pPr marL="1680039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6pPr>
            <a:lvl7pPr marL="2016046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7pPr>
            <a:lvl8pPr marL="2352054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8pPr>
            <a:lvl9pPr marL="2688062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dirty="0"/>
              <a:t>The works was co-financed under the </a:t>
            </a:r>
            <a:r>
              <a:rPr lang="en-US" dirty="0" err="1"/>
              <a:t>Interreg</a:t>
            </a:r>
            <a:r>
              <a:rPr lang="en-US" dirty="0"/>
              <a:t> South Baltic </a:t>
            </a:r>
            <a:r>
              <a:rPr lang="en-US" dirty="0" err="1"/>
              <a:t>Programme</a:t>
            </a:r>
            <a:r>
              <a:rPr lang="pl-PL" dirty="0"/>
              <a:t> </a:t>
            </a:r>
            <a:r>
              <a:rPr lang="en-US" dirty="0"/>
              <a:t>2021 – 2027</a:t>
            </a:r>
            <a:br>
              <a:rPr lang="pl-PL" dirty="0"/>
            </a:br>
            <a:r>
              <a:rPr lang="en-US" dirty="0"/>
              <a:t>in the Low Calorific Gas for Green Power Production project,</a:t>
            </a:r>
            <a:br>
              <a:rPr lang="pl-PL" dirty="0"/>
            </a:br>
            <a:r>
              <a:rPr lang="en-US" dirty="0"/>
              <a:t>project number: STHB.02.01-IP.01-0011/23, https://locagas.eu</a:t>
            </a:r>
            <a:endParaRPr lang="pl-PL" dirty="0"/>
          </a:p>
        </p:txBody>
      </p:sp>
      <p:sp>
        <p:nvSpPr>
          <p:cNvPr id="13" name="Tile Acknowledgements"/>
          <p:cNvSpPr txBox="1">
            <a:spLocks/>
          </p:cNvSpPr>
          <p:nvPr userDrawn="1"/>
        </p:nvSpPr>
        <p:spPr>
          <a:xfrm>
            <a:off x="900000" y="3240000"/>
            <a:ext cx="7200000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1800" b="1" kern="1200">
                <a:solidFill>
                  <a:srgbClr val="D07107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Acknowledgements</a:t>
            </a:r>
          </a:p>
        </p:txBody>
      </p:sp>
      <p:sp>
        <p:nvSpPr>
          <p:cNvPr id="3" name="Contact data"/>
          <p:cNvSpPr>
            <a:spLocks noGrp="1"/>
          </p:cNvSpPr>
          <p:nvPr>
            <p:ph type="body" idx="1" hasCustomPrompt="1"/>
          </p:nvPr>
        </p:nvSpPr>
        <p:spPr>
          <a:xfrm>
            <a:off x="2880000" y="2340000"/>
            <a:ext cx="3600000" cy="720000"/>
          </a:xfrm>
          <a:noFill/>
          <a:effectLst/>
        </p:spPr>
        <p:txBody>
          <a:bodyPr rtlCol="0" anchor="ctr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 cap="none" baseline="0">
                <a:solidFill>
                  <a:srgbClr val="496254"/>
                </a:solidFill>
              </a:defRPr>
            </a:lvl1pPr>
            <a:lvl2pPr marL="336008" indent="0" algn="l" rtl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72015" indent="0" algn="l" rtl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3pPr>
            <a:lvl4pPr marL="1008023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4pPr>
            <a:lvl5pPr marL="1344031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5pPr>
            <a:lvl6pPr marL="1680039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6pPr>
            <a:lvl7pPr marL="2016046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7pPr>
            <a:lvl8pPr marL="2352054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8pPr>
            <a:lvl9pPr marL="2688062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pl-PL" sz="1200" spc="-50" dirty="0">
                <a:solidFill>
                  <a:schemeClr val="bg1"/>
                </a:solidFill>
              </a:rPr>
              <a:t>jon.miller@mail.com</a:t>
            </a:r>
            <a:br>
              <a:rPr lang="pl-PL" sz="1200" spc="-50" dirty="0">
                <a:solidFill>
                  <a:schemeClr val="bg1"/>
                </a:solidFill>
              </a:rPr>
            </a:br>
            <a:r>
              <a:rPr lang="pl-PL" sz="1200" spc="-50" dirty="0">
                <a:solidFill>
                  <a:schemeClr val="bg1"/>
                </a:solidFill>
              </a:rPr>
              <a:t>+45 258 354 958</a:t>
            </a:r>
          </a:p>
          <a:p>
            <a:pPr algn="ctr"/>
            <a:r>
              <a:rPr lang="pl-PL" sz="1200" spc="-50" dirty="0">
                <a:solidFill>
                  <a:schemeClr val="bg1"/>
                </a:solidFill>
              </a:rPr>
              <a:t>https://www.your.company.com</a:t>
            </a:r>
            <a:endParaRPr lang="en-GB" sz="1200" spc="-50" dirty="0">
              <a:solidFill>
                <a:schemeClr val="bg1"/>
              </a:solidFill>
            </a:endParaRPr>
          </a:p>
        </p:txBody>
      </p:sp>
      <p:sp>
        <p:nvSpPr>
          <p:cNvPr id="14" name="Question"/>
          <p:cNvSpPr>
            <a:spLocks noGrp="1"/>
          </p:cNvSpPr>
          <p:nvPr>
            <p:ph type="body" idx="11" hasCustomPrompt="1"/>
          </p:nvPr>
        </p:nvSpPr>
        <p:spPr>
          <a:xfrm>
            <a:off x="900000" y="1440000"/>
            <a:ext cx="7200000" cy="720000"/>
          </a:xfrm>
          <a:noFill/>
        </p:spPr>
        <p:txBody>
          <a:bodyPr rtlCol="0" anchor="ctr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 b="1" cap="none" baseline="0">
                <a:solidFill>
                  <a:srgbClr val="293910"/>
                </a:solidFill>
              </a:defRPr>
            </a:lvl1pPr>
            <a:lvl2pPr marL="336008" indent="0" algn="l" rtl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72015" indent="0" algn="l" rtl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3pPr>
            <a:lvl4pPr marL="1008023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4pPr>
            <a:lvl5pPr marL="1344031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5pPr>
            <a:lvl6pPr marL="1680039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6pPr>
            <a:lvl7pPr marL="2016046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7pPr>
            <a:lvl8pPr marL="2352054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8pPr>
            <a:lvl9pPr marL="2688062" indent="0" algn="l" rtl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 dirty="0"/>
              <a:t>Do you have any question</a:t>
            </a:r>
            <a:r>
              <a:rPr lang="pl-PL" noProof="0" dirty="0"/>
              <a:t>?</a:t>
            </a:r>
            <a:endParaRPr lang="en-GB" noProof="0" dirty="0"/>
          </a:p>
        </p:txBody>
      </p:sp>
      <p:sp>
        <p:nvSpPr>
          <p:cNvPr id="2" name="Title of slide"/>
          <p:cNvSpPr>
            <a:spLocks noGrp="1"/>
          </p:cNvSpPr>
          <p:nvPr>
            <p:ph type="title" hasCustomPrompt="1"/>
          </p:nvPr>
        </p:nvSpPr>
        <p:spPr>
          <a:xfrm>
            <a:off x="900000" y="1080000"/>
            <a:ext cx="7200000" cy="360000"/>
          </a:xfrm>
        </p:spPr>
        <p:txBody>
          <a:bodyPr rtlCol="0" anchor="ctr">
            <a:noAutofit/>
          </a:bodyPr>
          <a:lstStyle>
            <a:lvl1pPr algn="ctr" rtl="0">
              <a:defRPr sz="1800" b="1">
                <a:ln>
                  <a:noFill/>
                </a:ln>
                <a:solidFill>
                  <a:srgbClr val="D07107"/>
                </a:solidFill>
              </a:defRPr>
            </a:lvl1pPr>
          </a:lstStyle>
          <a:p>
            <a:pPr algn="ctr"/>
            <a:r>
              <a:rPr lang="pl-PL" sz="2000" b="1" spc="-50" dirty="0">
                <a:solidFill>
                  <a:srgbClr val="D071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 YOU  FOR   ATTENTION</a:t>
            </a:r>
            <a:endParaRPr lang="en-GB" sz="2000" b="1" spc="-50" dirty="0">
              <a:solidFill>
                <a:srgbClr val="D0710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Alternativ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/>
        </p:nvSpPr>
        <p:spPr bwMode="ltGray">
          <a:xfrm>
            <a:off x="0" y="0"/>
            <a:ext cx="3597565" cy="5040313"/>
          </a:xfrm>
          <a:prstGeom prst="rect">
            <a:avLst/>
          </a:prstGeom>
          <a:gradFill flip="none" rotWithShape="1">
            <a:gsLst>
              <a:gs pos="100000">
                <a:srgbClr val="293910"/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2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23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61299" y="1736108"/>
            <a:ext cx="2362379" cy="1463091"/>
          </a:xfrm>
        </p:spPr>
        <p:txBody>
          <a:bodyPr rtlCol="0" anchor="b">
            <a:normAutofit/>
          </a:bodyPr>
          <a:lstStyle>
            <a:lvl1pPr algn="l" rtl="0">
              <a:defRPr sz="2499" b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61299" y="3209770"/>
            <a:ext cx="2362379" cy="119210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882"/>
              </a:spcBef>
              <a:buNone/>
              <a:defRPr sz="1176">
                <a:solidFill>
                  <a:schemeClr val="bg1"/>
                </a:solidFill>
              </a:defRPr>
            </a:lvl1pPr>
            <a:lvl2pPr marL="336008" indent="0" algn="l" rtl="0">
              <a:buNone/>
              <a:defRPr sz="882"/>
            </a:lvl2pPr>
            <a:lvl3pPr marL="672015" indent="0" algn="l" rtl="0">
              <a:buNone/>
              <a:defRPr sz="735"/>
            </a:lvl3pPr>
            <a:lvl4pPr marL="1008023" indent="0" algn="l" rtl="0">
              <a:buNone/>
              <a:defRPr sz="661"/>
            </a:lvl4pPr>
            <a:lvl5pPr marL="1344031" indent="0" algn="l" rtl="0">
              <a:buNone/>
              <a:defRPr sz="661"/>
            </a:lvl5pPr>
            <a:lvl6pPr marL="1680039" indent="0" algn="l" rtl="0">
              <a:buNone/>
              <a:defRPr sz="661"/>
            </a:lvl6pPr>
            <a:lvl7pPr marL="2016046" indent="0" algn="l" rtl="0">
              <a:buNone/>
              <a:defRPr sz="661"/>
            </a:lvl7pPr>
            <a:lvl8pPr marL="2352054" indent="0" algn="l" rtl="0">
              <a:buNone/>
              <a:defRPr sz="661"/>
            </a:lvl8pPr>
            <a:lvl9pPr marL="2688062" indent="0" algn="l" rtl="0">
              <a:buNone/>
              <a:defRPr sz="66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3958624" y="504032"/>
            <a:ext cx="4702259" cy="4032250"/>
          </a:xfrm>
        </p:spPr>
        <p:txBody>
          <a:bodyPr rtlCol="0">
            <a:normAutofit/>
          </a:bodyPr>
          <a:lstStyle>
            <a:lvl1pPr algn="l" rtl="0">
              <a:defRPr sz="1470"/>
            </a:lvl1pPr>
            <a:lvl2pPr algn="l" rtl="0">
              <a:defRPr sz="1323"/>
            </a:lvl2pPr>
            <a:lvl3pPr algn="l" rtl="0">
              <a:defRPr sz="1176"/>
            </a:lvl3pPr>
            <a:lvl4pPr algn="l" rtl="0">
              <a:defRPr sz="1029"/>
            </a:lvl4pPr>
            <a:lvl5pPr algn="l" rtl="0">
              <a:defRPr sz="1029"/>
            </a:lvl5pPr>
            <a:lvl6pPr algn="l" rtl="0">
              <a:defRPr sz="1029"/>
            </a:lvl6pPr>
            <a:lvl7pPr algn="l" rtl="0">
              <a:defRPr sz="1029"/>
            </a:lvl7pPr>
            <a:lvl8pPr algn="l" rtl="0">
              <a:defRPr sz="1029"/>
            </a:lvl8pPr>
            <a:lvl9pPr algn="l" rtl="0">
              <a:defRPr sz="1029"/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insert footer text</a:t>
            </a:r>
            <a:endParaRPr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/>
              <a:t>2016-09-08</a:t>
            </a:r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>
                <a:solidFill>
                  <a:schemeClr val="tx2"/>
                </a:solidFill>
              </a:defRPr>
            </a:lvl1pPr>
          </a:lstStyle>
          <a:p>
            <a:pPr rtl="0"/>
            <a:fld id="{CA8D9AD5-F248-4919-864A-CFD76CC027D6}" type="slidenum">
              <a:rPr/>
              <a:pPr rtl="0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/>
          <p:nvPr/>
        </p:nvSpPr>
        <p:spPr bwMode="ltGray">
          <a:xfrm>
            <a:off x="5399723" y="0"/>
            <a:ext cx="3597565" cy="5040313"/>
          </a:xfrm>
          <a:prstGeom prst="rect">
            <a:avLst/>
          </a:prstGeom>
          <a:gradFill flip="none" rotWithShape="1">
            <a:gsLst>
              <a:gs pos="100000">
                <a:srgbClr val="293910"/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2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23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848529" y="1736108"/>
            <a:ext cx="2362379" cy="1465051"/>
          </a:xfrm>
        </p:spPr>
        <p:txBody>
          <a:bodyPr rtlCol="0" anchor="b">
            <a:normAutofit/>
          </a:bodyPr>
          <a:lstStyle>
            <a:lvl1pPr algn="l" rtl="0">
              <a:defRPr sz="2499" b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/>
          </a:p>
        </p:txBody>
      </p:sp>
      <p:sp>
        <p:nvSpPr>
          <p:cNvPr id="3" name="Obraz — symbol zastępczy 2" descr="Pusty symbol zastępczy pozwalający dodać obraz. Kliknij symbol zastępczy i wybierz obraz, który chcesz dodać."/>
          <p:cNvSpPr>
            <a:spLocks noGrp="1"/>
          </p:cNvSpPr>
          <p:nvPr>
            <p:ph type="pic" idx="1"/>
          </p:nvPr>
        </p:nvSpPr>
        <p:spPr>
          <a:xfrm>
            <a:off x="0" y="0"/>
            <a:ext cx="5399723" cy="5040313"/>
          </a:xfrm>
          <a:solidFill>
            <a:srgbClr val="F8FFDE"/>
          </a:solidFill>
        </p:spPr>
        <p:txBody>
          <a:bodyPr rtlCol="0"/>
          <a:lstStyle>
            <a:lvl1pPr marL="0" indent="0" algn="ctr" rtl="0">
              <a:buNone/>
              <a:defRPr sz="2352">
                <a:solidFill>
                  <a:schemeClr val="tx2"/>
                </a:solidFill>
              </a:defRPr>
            </a:lvl1pPr>
            <a:lvl2pPr marL="336008" indent="0" algn="l" rtl="0">
              <a:buNone/>
              <a:defRPr sz="2058"/>
            </a:lvl2pPr>
            <a:lvl3pPr marL="672015" indent="0" algn="l" rtl="0">
              <a:buNone/>
              <a:defRPr sz="1764"/>
            </a:lvl3pPr>
            <a:lvl4pPr marL="1008023" indent="0" algn="l" rtl="0">
              <a:buNone/>
              <a:defRPr sz="1470"/>
            </a:lvl4pPr>
            <a:lvl5pPr marL="1344031" indent="0" algn="l" rtl="0">
              <a:buNone/>
              <a:defRPr sz="1470"/>
            </a:lvl5pPr>
            <a:lvl6pPr marL="1680039" indent="0" algn="l" rtl="0">
              <a:buNone/>
              <a:defRPr sz="1470"/>
            </a:lvl6pPr>
            <a:lvl7pPr marL="2016046" indent="0" algn="l" rtl="0">
              <a:buNone/>
              <a:defRPr sz="1470"/>
            </a:lvl7pPr>
            <a:lvl8pPr marL="2352054" indent="0" algn="l" rtl="0">
              <a:buNone/>
              <a:defRPr sz="1470"/>
            </a:lvl8pPr>
            <a:lvl9pPr marL="2688062" indent="0" algn="l" rtl="0">
              <a:buNone/>
              <a:defRPr sz="1470"/>
            </a:lvl9pPr>
          </a:lstStyle>
          <a:p>
            <a:pPr rtl="0"/>
            <a:r>
              <a:rPr lang="de-DE"/>
              <a:t>Bild durch Klicken auf Symbol hinzufügen</a:t>
            </a:r>
            <a:endParaRPr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848529" y="3201159"/>
            <a:ext cx="2362379" cy="1208716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882"/>
              </a:spcBef>
              <a:buNone/>
              <a:defRPr sz="1176">
                <a:solidFill>
                  <a:schemeClr val="bg1"/>
                </a:solidFill>
              </a:defRPr>
            </a:lvl1pPr>
            <a:lvl2pPr marL="336008" indent="0" algn="l" rtl="0">
              <a:buNone/>
              <a:defRPr sz="882"/>
            </a:lvl2pPr>
            <a:lvl3pPr marL="672015" indent="0" algn="l" rtl="0">
              <a:buNone/>
              <a:defRPr sz="735"/>
            </a:lvl3pPr>
            <a:lvl4pPr marL="1008023" indent="0" algn="l" rtl="0">
              <a:buNone/>
              <a:defRPr sz="661"/>
            </a:lvl4pPr>
            <a:lvl5pPr marL="1344031" indent="0" algn="l" rtl="0">
              <a:buNone/>
              <a:defRPr sz="661"/>
            </a:lvl5pPr>
            <a:lvl6pPr marL="1680039" indent="0" algn="l" rtl="0">
              <a:buNone/>
              <a:defRPr sz="661"/>
            </a:lvl6pPr>
            <a:lvl7pPr marL="2016046" indent="0" algn="l" rtl="0">
              <a:buNone/>
              <a:defRPr sz="661"/>
            </a:lvl7pPr>
            <a:lvl8pPr marL="2352054" indent="0" algn="l" rtl="0">
              <a:buNone/>
              <a:defRPr sz="661"/>
            </a:lvl8pPr>
            <a:lvl9pPr marL="2688062" indent="0" algn="l" rtl="0">
              <a:buNone/>
              <a:defRPr sz="66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/>
              <a:t>insert footer text</a:t>
            </a:r>
            <a:endParaRPr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l-PL"/>
              <a:t>2016-09-08</a:t>
            </a:r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618719" y="201846"/>
            <a:ext cx="5709082" cy="4334436"/>
          </a:xfrm>
        </p:spPr>
        <p:txBody>
          <a:bodyPr vert="eaVert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8FFDE">
                <a:lumMod val="50000"/>
                <a:lumOff val="50000"/>
              </a:srgbClr>
            </a:gs>
            <a:gs pos="0">
              <a:schemeClr val="bg1">
                <a:alpha val="8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 1"/>
          <p:cNvSpPr/>
          <p:nvPr userDrawn="1"/>
        </p:nvSpPr>
        <p:spPr bwMode="ltGray">
          <a:xfrm>
            <a:off x="-462" y="-976"/>
            <a:ext cx="9000000" cy="1080000"/>
          </a:xfrm>
          <a:prstGeom prst="rect">
            <a:avLst/>
          </a:prstGeom>
          <a:gradFill>
            <a:gsLst>
              <a:gs pos="100000">
                <a:srgbClr val="293910">
                  <a:alpha val="80000"/>
                </a:srgbClr>
              </a:gs>
              <a:gs pos="0">
                <a:schemeClr val="tx2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993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7" name="Graph 1"/>
          <p:cNvSpPr/>
          <p:nvPr/>
        </p:nvSpPr>
        <p:spPr bwMode="ltGray">
          <a:xfrm>
            <a:off x="1171" y="4500436"/>
            <a:ext cx="9000000" cy="540000"/>
          </a:xfrm>
          <a:prstGeom prst="rect">
            <a:avLst/>
          </a:prstGeom>
          <a:gradFill>
            <a:gsLst>
              <a:gs pos="100000">
                <a:srgbClr val="293910">
                  <a:alpha val="80000"/>
                </a:srgbClr>
              </a:gs>
              <a:gs pos="0">
                <a:schemeClr val="tx2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993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Graph 2"/>
          <p:cNvSpPr/>
          <p:nvPr/>
        </p:nvSpPr>
        <p:spPr bwMode="white">
          <a:xfrm>
            <a:off x="1171" y="4464372"/>
            <a:ext cx="9000000" cy="36000"/>
          </a:xfrm>
          <a:prstGeom prst="rect">
            <a:avLst/>
          </a:prstGeom>
          <a:solidFill>
            <a:srgbClr val="F8FFD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sz="993"/>
          </a:p>
        </p:txBody>
      </p:sp>
      <p:sp>
        <p:nvSpPr>
          <p:cNvPr id="12" name="Graph 3"/>
          <p:cNvSpPr/>
          <p:nvPr userDrawn="1"/>
        </p:nvSpPr>
        <p:spPr bwMode="ltGray">
          <a:xfrm>
            <a:off x="0" y="4428000"/>
            <a:ext cx="9000000" cy="36000"/>
          </a:xfrm>
          <a:prstGeom prst="rect">
            <a:avLst/>
          </a:prstGeom>
          <a:solidFill>
            <a:srgbClr val="29391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sz="993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1080000" y="180000"/>
            <a:ext cx="7019640" cy="72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rtl="0"/>
            <a:r>
              <a:rPr lang="en-US" dirty="0"/>
              <a:t>Double-click to edit the title template style</a:t>
            </a:r>
            <a:endParaRPr dirty="0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900000" y="1260000"/>
            <a:ext cx="7200000" cy="28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 dirty="0"/>
              <a:t>Double-click to edit the text template style</a:t>
            </a:r>
          </a:p>
          <a:p>
            <a:pPr lvl="1" rtl="0"/>
            <a:r>
              <a:rPr lang="en-GB" noProof="0" dirty="0" err="1"/>
              <a:t>Drugi</a:t>
            </a:r>
            <a:r>
              <a:rPr lang="en-GB" noProof="0" dirty="0"/>
              <a:t> </a:t>
            </a:r>
            <a:r>
              <a:rPr lang="en-GB" noProof="0" dirty="0" err="1"/>
              <a:t>poziom</a:t>
            </a:r>
            <a:endParaRPr lang="en-GB" noProof="0" dirty="0"/>
          </a:p>
          <a:p>
            <a:pPr lvl="2" rtl="0"/>
            <a:r>
              <a:rPr lang="en-GB" noProof="0" dirty="0" err="1"/>
              <a:t>Trzeci</a:t>
            </a:r>
            <a:r>
              <a:rPr lang="en-GB" noProof="0" dirty="0"/>
              <a:t> </a:t>
            </a:r>
            <a:r>
              <a:rPr lang="en-GB" noProof="0" dirty="0" err="1"/>
              <a:t>poziom</a:t>
            </a:r>
            <a:endParaRPr lang="en-GB" noProof="0" dirty="0"/>
          </a:p>
          <a:p>
            <a:pPr lvl="3" rtl="0"/>
            <a:r>
              <a:rPr lang="en-GB" noProof="0" dirty="0" err="1"/>
              <a:t>Czwarty</a:t>
            </a:r>
            <a:r>
              <a:rPr lang="en-GB" noProof="0" dirty="0"/>
              <a:t> </a:t>
            </a:r>
            <a:r>
              <a:rPr lang="en-GB" noProof="0" dirty="0" err="1"/>
              <a:t>poziom</a:t>
            </a:r>
            <a:endParaRPr lang="en-GB" noProof="0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972000" y="4644000"/>
            <a:ext cx="486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8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footer text or turn off in the "header and footer option"</a:t>
            </a:r>
          </a:p>
        </p:txBody>
      </p:sp>
      <p:sp>
        <p:nvSpPr>
          <p:cNvPr id="4" name="Data"/>
          <p:cNvSpPr>
            <a:spLocks noGrp="1"/>
          </p:cNvSpPr>
          <p:nvPr>
            <p:ph type="dt" sz="half" idx="2"/>
          </p:nvPr>
        </p:nvSpPr>
        <p:spPr>
          <a:xfrm>
            <a:off x="6011937" y="4680000"/>
            <a:ext cx="708714" cy="174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8">
                <a:solidFill>
                  <a:schemeClr val="bg1"/>
                </a:solidFill>
              </a:defRPr>
            </a:lvl1pPr>
          </a:lstStyle>
          <a:p>
            <a:r>
              <a:rPr lang="pl-PL"/>
              <a:t>2016-09-08</a:t>
            </a:r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6804025" y="4680000"/>
            <a:ext cx="472476" cy="174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8"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11" name="ISB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000" y="4536000"/>
            <a:ext cx="1551574" cy="468000"/>
          </a:xfrm>
          <a:prstGeom prst="rect">
            <a:avLst/>
          </a:prstGeom>
        </p:spPr>
      </p:pic>
      <p:pic>
        <p:nvPicPr>
          <p:cNvPr id="9" name="Obraz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9" y="180000"/>
            <a:ext cx="666959" cy="720000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>
            <a:off x="972000" y="180000"/>
            <a:ext cx="18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66" r:id="rId3"/>
    <p:sldLayoutId id="2147483665" r:id="rId4"/>
    <p:sldLayoutId id="2147483651" r:id="rId5"/>
    <p:sldLayoutId id="2147483653" r:id="rId6"/>
    <p:sldLayoutId id="2147483656" r:id="rId7"/>
    <p:sldLayoutId id="2147483662" r:id="rId8"/>
    <p:sldLayoutId id="2147483663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672015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24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0000" indent="-180000" algn="l" defTabSz="672015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Wingdings" pitchFamily="2" charset="2"/>
        <a:buChar char="§"/>
        <a:defRPr sz="1470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1pPr>
      <a:lvl2pPr marL="360000" indent="-180000" algn="l" defTabSz="672015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" pitchFamily="2" charset="2"/>
        <a:buChar char="§"/>
        <a:defRPr sz="1323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2pPr>
      <a:lvl3pPr marL="540000" indent="-180000" algn="l" defTabSz="672015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" pitchFamily="2" charset="2"/>
        <a:buChar char="§"/>
        <a:defRPr sz="1176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3pPr>
      <a:lvl4pPr marL="720000" indent="-180000" algn="l" defTabSz="672015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" pitchFamily="2" charset="2"/>
        <a:buChar char="§"/>
        <a:defRPr sz="1029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4pPr>
      <a:lvl5pPr marL="1142426" indent="-168004" algn="l" defTabSz="672015" rtl="0" eaLnBrk="1" latinLnBrk="0" hangingPunct="1">
        <a:lnSpc>
          <a:spcPct val="90000"/>
        </a:lnSpc>
        <a:spcBef>
          <a:spcPts val="588"/>
        </a:spcBef>
        <a:buClr>
          <a:schemeClr val="tx2"/>
        </a:buClr>
        <a:buSzPct val="80000"/>
        <a:buFont typeface="Wingdings" pitchFamily="2" charset="2"/>
        <a:buChar char="§"/>
        <a:defRPr sz="1029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5pPr>
      <a:lvl6pPr marL="1377632" indent="-168004" algn="l" defTabSz="672015" rtl="0" eaLnBrk="1" latinLnBrk="0" hangingPunct="1">
        <a:lnSpc>
          <a:spcPct val="90000"/>
        </a:lnSpc>
        <a:spcBef>
          <a:spcPts val="588"/>
        </a:spcBef>
        <a:buSzPct val="80000"/>
        <a:buFont typeface="Wingdings" pitchFamily="2" charset="2"/>
        <a:buChar char="§"/>
        <a:defRPr sz="1029" kern="120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6pPr>
      <a:lvl7pPr marL="1612837" indent="-168004" algn="l" defTabSz="672015" rtl="0" eaLnBrk="1" latinLnBrk="0" hangingPunct="1">
        <a:lnSpc>
          <a:spcPct val="90000"/>
        </a:lnSpc>
        <a:spcBef>
          <a:spcPts val="588"/>
        </a:spcBef>
        <a:buSzPct val="80000"/>
        <a:buFont typeface="Wingdings" pitchFamily="2" charset="2"/>
        <a:buChar char="§"/>
        <a:defRPr sz="1029" kern="1200" baseline="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7pPr>
      <a:lvl8pPr marL="1848042" indent="-168004" algn="l" defTabSz="672015" rtl="0" eaLnBrk="1" latinLnBrk="0" hangingPunct="1">
        <a:lnSpc>
          <a:spcPct val="90000"/>
        </a:lnSpc>
        <a:spcBef>
          <a:spcPts val="588"/>
        </a:spcBef>
        <a:buSzPct val="80000"/>
        <a:buFont typeface="Wingdings" pitchFamily="2" charset="2"/>
        <a:buChar char="§"/>
        <a:defRPr sz="1029" kern="1200" baseline="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8pPr>
      <a:lvl9pPr marL="2083248" indent="-168004" algn="l" defTabSz="672015" rtl="0" eaLnBrk="1" latinLnBrk="0" hangingPunct="1">
        <a:lnSpc>
          <a:spcPct val="90000"/>
        </a:lnSpc>
        <a:spcBef>
          <a:spcPts val="588"/>
        </a:spcBef>
        <a:buSzPct val="80000"/>
        <a:buFont typeface="Wingdings" pitchFamily="2" charset="2"/>
        <a:buChar char="§"/>
        <a:defRPr sz="1029" kern="1200" baseline="0">
          <a:solidFill>
            <a:srgbClr val="293910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/>
      </a:defPPr>
      <a:lvl1pPr marL="0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08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15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023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031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039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046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054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062" algn="l" defTabSz="672015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34" userDrawn="1">
          <p15:clr>
            <a:srgbClr val="F26B43"/>
          </p15:clr>
        </p15:guide>
        <p15:guide id="2" pos="29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filiation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465C"/>
                </a:solidFill>
              </a:rPr>
              <a:t>University of Rostock</a:t>
            </a:r>
          </a:p>
        </p:txBody>
      </p:sp>
      <p:sp>
        <p:nvSpPr>
          <p:cNvPr id="5" name="Author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465C"/>
                </a:solidFill>
              </a:rPr>
              <a:t>Sven </a:t>
            </a:r>
            <a:r>
              <a:rPr lang="en-GB" dirty="0" err="1">
                <a:solidFill>
                  <a:srgbClr val="00465C"/>
                </a:solidFill>
              </a:rPr>
              <a:t>Mauch</a:t>
            </a:r>
            <a:r>
              <a:rPr lang="en-GB" dirty="0">
                <a:solidFill>
                  <a:srgbClr val="00465C"/>
                </a:solidFill>
              </a:rPr>
              <a:t>, Julian </a:t>
            </a:r>
            <a:r>
              <a:rPr lang="en-GB" dirty="0" err="1">
                <a:solidFill>
                  <a:srgbClr val="00465C"/>
                </a:solidFill>
              </a:rPr>
              <a:t>Wiechert</a:t>
            </a:r>
            <a:r>
              <a:rPr lang="en-GB" dirty="0">
                <a:solidFill>
                  <a:srgbClr val="00465C"/>
                </a:solidFill>
              </a:rPr>
              <a:t>, Ibrahim </a:t>
            </a:r>
            <a:r>
              <a:rPr lang="en-GB" dirty="0" err="1">
                <a:solidFill>
                  <a:srgbClr val="00465C"/>
                </a:solidFill>
              </a:rPr>
              <a:t>Rahmouni</a:t>
            </a:r>
            <a:endParaRPr lang="en-GB" dirty="0">
              <a:solidFill>
                <a:srgbClr val="00465C"/>
              </a:solidFill>
            </a:endParaRP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100" dirty="0">
                <a:solidFill>
                  <a:srgbClr val="00465C"/>
                </a:solidFill>
              </a:rPr>
              <a:t>LCA Decision Tool</a:t>
            </a:r>
          </a:p>
        </p:txBody>
      </p:sp>
    </p:spTree>
    <p:extLst>
      <p:ext uri="{BB962C8B-B14F-4D97-AF65-F5344CB8AC3E}">
        <p14:creationId xmlns:p14="http://schemas.microsoft.com/office/powerpoint/2010/main" val="323242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Content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2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1187401" y="2232124"/>
            <a:ext cx="6480000" cy="15121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AU" sz="1400" b="1" dirty="0"/>
              <a:t>In the following slides the concept of the Decision Tool will be presented</a:t>
            </a:r>
          </a:p>
          <a:p>
            <a:endParaRPr lang="en-AU" sz="1400" b="1" dirty="0"/>
          </a:p>
          <a:p>
            <a:r>
              <a:rPr lang="en-AU" sz="1100" dirty="0"/>
              <a:t>For reasons of clarity, the ecological and economic approaches are presented separately.</a:t>
            </a:r>
          </a:p>
          <a:p>
            <a:r>
              <a:rPr lang="en-AU" sz="1100" dirty="0"/>
              <a:t>For the final implementation, both approaches are implemented in one tool</a:t>
            </a:r>
          </a:p>
          <a:p>
            <a:pPr algn="l"/>
            <a:endParaRPr lang="en-AU" sz="1400" dirty="0"/>
          </a:p>
          <a:p>
            <a:r>
              <a:rPr lang="en-AU" sz="1600" b="1" dirty="0">
                <a:solidFill>
                  <a:srgbClr val="FF0000"/>
                </a:solidFill>
              </a:rPr>
              <a:t>Please provide us your feedback! </a:t>
            </a:r>
            <a:r>
              <a:rPr lang="en-AU" sz="1600" b="1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AU" sz="1600" b="1" dirty="0">
              <a:solidFill>
                <a:srgbClr val="FF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5931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Environmental Model Concept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3</a:t>
            </a:fld>
            <a:endParaRPr lang="pl-PL" dirty="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2F0C7018-21EB-609D-D741-7D0E8B4DBD10}"/>
              </a:ext>
            </a:extLst>
          </p:cNvPr>
          <p:cNvSpPr/>
          <p:nvPr/>
        </p:nvSpPr>
        <p:spPr>
          <a:xfrm rot="16200000">
            <a:off x="-324768" y="3240234"/>
            <a:ext cx="1512171" cy="3600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Time </a:t>
            </a:r>
            <a:r>
              <a:rPr lang="de-DE" sz="1100" dirty="0" err="1"/>
              <a:t>horizon</a:t>
            </a:r>
            <a:r>
              <a:rPr lang="de-DE" sz="1100" dirty="0"/>
              <a:t> in </a:t>
            </a:r>
            <a:r>
              <a:rPr lang="de-DE" sz="1100" dirty="0" err="1"/>
              <a:t>years</a:t>
            </a:r>
            <a:endParaRPr lang="de-DE" sz="1100" dirty="0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38542DF6-5ED8-2364-600D-FC1B122EFF9A}"/>
              </a:ext>
            </a:extLst>
          </p:cNvPr>
          <p:cNvSpPr/>
          <p:nvPr/>
        </p:nvSpPr>
        <p:spPr>
          <a:xfrm>
            <a:off x="899369" y="2664170"/>
            <a:ext cx="864096" cy="36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LCLFG Flow </a:t>
            </a:r>
            <a:r>
              <a:rPr lang="de-DE" sz="800" dirty="0"/>
              <a:t>at</a:t>
            </a:r>
            <a:r>
              <a:rPr lang="de-DE" sz="900" dirty="0"/>
              <a:t> </a:t>
            </a:r>
            <a:r>
              <a:rPr lang="de-DE" sz="900" dirty="0" err="1"/>
              <a:t>year</a:t>
            </a:r>
            <a:r>
              <a:rPr lang="de-DE" sz="900" dirty="0"/>
              <a:t> 1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34F6988-4FE6-E1CA-0BD5-AF83E6B7964E}"/>
              </a:ext>
            </a:extLst>
          </p:cNvPr>
          <p:cNvSpPr/>
          <p:nvPr/>
        </p:nvSpPr>
        <p:spPr>
          <a:xfrm>
            <a:off x="899368" y="3240235"/>
            <a:ext cx="864096" cy="36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CH4 </a:t>
            </a:r>
            <a:r>
              <a:rPr lang="de-DE" sz="900" dirty="0" err="1"/>
              <a:t>content</a:t>
            </a:r>
            <a:r>
              <a:rPr lang="de-DE" sz="900" dirty="0"/>
              <a:t> at </a:t>
            </a:r>
            <a:r>
              <a:rPr lang="de-DE" sz="900" dirty="0" err="1"/>
              <a:t>year</a:t>
            </a:r>
            <a:r>
              <a:rPr lang="de-DE" sz="900" dirty="0"/>
              <a:t> 1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F2B70B00-96E4-A2FB-11F4-2C9A3AFFCCB6}"/>
              </a:ext>
            </a:extLst>
          </p:cNvPr>
          <p:cNvSpPr/>
          <p:nvPr/>
        </p:nvSpPr>
        <p:spPr>
          <a:xfrm>
            <a:off x="2555553" y="1648725"/>
            <a:ext cx="576064" cy="216000"/>
          </a:xfrm>
          <a:prstGeom prst="roundRect">
            <a:avLst/>
          </a:prstGeom>
          <a:solidFill>
            <a:srgbClr val="D071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1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CB9B23B9-BB81-A7CD-DA79-2DCAB2B2E7AF}"/>
              </a:ext>
            </a:extLst>
          </p:cNvPr>
          <p:cNvSpPr/>
          <p:nvPr/>
        </p:nvSpPr>
        <p:spPr>
          <a:xfrm>
            <a:off x="2555553" y="1902121"/>
            <a:ext cx="576064" cy="216000"/>
          </a:xfrm>
          <a:prstGeom prst="roundRect">
            <a:avLst/>
          </a:prstGeom>
          <a:solidFill>
            <a:srgbClr val="D071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2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870EF738-BCB1-22BB-4080-E5C183E61D68}"/>
              </a:ext>
            </a:extLst>
          </p:cNvPr>
          <p:cNvSpPr/>
          <p:nvPr/>
        </p:nvSpPr>
        <p:spPr>
          <a:xfrm>
            <a:off x="2555553" y="2154532"/>
            <a:ext cx="576064" cy="216000"/>
          </a:xfrm>
          <a:prstGeom prst="roundRect">
            <a:avLst/>
          </a:prstGeom>
          <a:solidFill>
            <a:srgbClr val="D071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3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A356AE26-0651-6D2F-C1BD-CFFAA5530746}"/>
              </a:ext>
            </a:extLst>
          </p:cNvPr>
          <p:cNvSpPr/>
          <p:nvPr/>
        </p:nvSpPr>
        <p:spPr>
          <a:xfrm>
            <a:off x="2555553" y="2406943"/>
            <a:ext cx="576064" cy="216000"/>
          </a:xfrm>
          <a:prstGeom prst="roundRect">
            <a:avLst/>
          </a:prstGeom>
          <a:solidFill>
            <a:srgbClr val="D071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4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E97BA825-5274-A36C-DC3C-D4880B4E1E87}"/>
              </a:ext>
            </a:extLst>
          </p:cNvPr>
          <p:cNvSpPr/>
          <p:nvPr/>
        </p:nvSpPr>
        <p:spPr>
          <a:xfrm>
            <a:off x="2555553" y="2964428"/>
            <a:ext cx="576064" cy="216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1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DDCBF9D-F3D4-AF35-5A55-12F6DB34D2FD}"/>
              </a:ext>
            </a:extLst>
          </p:cNvPr>
          <p:cNvSpPr/>
          <p:nvPr/>
        </p:nvSpPr>
        <p:spPr>
          <a:xfrm>
            <a:off x="2555553" y="3223296"/>
            <a:ext cx="576064" cy="216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2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B3287744-3E08-C14C-F47B-5200E9AF8DBB}"/>
              </a:ext>
            </a:extLst>
          </p:cNvPr>
          <p:cNvSpPr/>
          <p:nvPr/>
        </p:nvSpPr>
        <p:spPr>
          <a:xfrm>
            <a:off x="2555553" y="3482164"/>
            <a:ext cx="576064" cy="216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3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5F26A5A3-38AB-0854-EEE1-65405BEB71A8}"/>
              </a:ext>
            </a:extLst>
          </p:cNvPr>
          <p:cNvSpPr/>
          <p:nvPr/>
        </p:nvSpPr>
        <p:spPr>
          <a:xfrm>
            <a:off x="2550962" y="3741032"/>
            <a:ext cx="576064" cy="216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Year 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149B89-963A-2938-A71B-2FD98B6BC440}"/>
              </a:ext>
            </a:extLst>
          </p:cNvPr>
          <p:cNvSpPr/>
          <p:nvPr/>
        </p:nvSpPr>
        <p:spPr>
          <a:xfrm>
            <a:off x="2816134" y="267040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EA59AE-70C3-B9A8-123B-45F99304FAAC}"/>
              </a:ext>
            </a:extLst>
          </p:cNvPr>
          <p:cNvSpPr/>
          <p:nvPr/>
        </p:nvSpPr>
        <p:spPr>
          <a:xfrm>
            <a:off x="2816134" y="276216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837D96-019A-3643-DB6B-2F793F22E5E4}"/>
              </a:ext>
            </a:extLst>
          </p:cNvPr>
          <p:cNvSpPr/>
          <p:nvPr/>
        </p:nvSpPr>
        <p:spPr>
          <a:xfrm flipH="1" flipV="1">
            <a:off x="2816135" y="286884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F62D83-6C8B-6EAB-C22F-2629429D1D67}"/>
              </a:ext>
            </a:extLst>
          </p:cNvPr>
          <p:cNvSpPr/>
          <p:nvPr/>
        </p:nvSpPr>
        <p:spPr>
          <a:xfrm flipH="1">
            <a:off x="2816134" y="400389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9EB52F-30D0-79C5-FF64-2A614D7D3418}"/>
              </a:ext>
            </a:extLst>
          </p:cNvPr>
          <p:cNvSpPr/>
          <p:nvPr/>
        </p:nvSpPr>
        <p:spPr>
          <a:xfrm flipH="1">
            <a:off x="2816134" y="409565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F3D9FF-4446-0A18-E3D0-149813E0BD68}"/>
              </a:ext>
            </a:extLst>
          </p:cNvPr>
          <p:cNvSpPr/>
          <p:nvPr/>
        </p:nvSpPr>
        <p:spPr>
          <a:xfrm flipV="1">
            <a:off x="2816134" y="420233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09041F3-8EC3-AF6C-E736-8EFD9F68020C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11338" y="2844190"/>
            <a:ext cx="288031" cy="3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6C71364-3D08-2F59-576E-EC6F5F49309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11337" y="3420255"/>
            <a:ext cx="288031" cy="72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12B9BAD-8368-9721-E675-E198602F2F44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1763465" y="1756725"/>
            <a:ext cx="792088" cy="1087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01090F2-6A4E-9A8C-AC2C-9E15192F0A2D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1763465" y="2010121"/>
            <a:ext cx="792088" cy="83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3B794BDE-BABD-F484-E067-B06926CB95F8}"/>
              </a:ext>
            </a:extLst>
          </p:cNvPr>
          <p:cNvCxnSpPr>
            <a:stCxn id="6" idx="3"/>
            <a:endCxn id="13" idx="1"/>
          </p:cNvCxnSpPr>
          <p:nvPr/>
        </p:nvCxnSpPr>
        <p:spPr>
          <a:xfrm flipV="1">
            <a:off x="1763465" y="2262532"/>
            <a:ext cx="792088" cy="581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1D84375-4B73-7500-4B04-8BDF46F36156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1763465" y="2514943"/>
            <a:ext cx="792088" cy="3292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1408DA4-F746-318D-A3E9-39445FB72FE8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1763464" y="3072428"/>
            <a:ext cx="792089" cy="347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CC0A118-EA6F-3813-6063-A44073CD3B70}"/>
              </a:ext>
            </a:extLst>
          </p:cNvPr>
          <p:cNvCxnSpPr>
            <a:stCxn id="8" idx="3"/>
            <a:endCxn id="16" idx="1"/>
          </p:cNvCxnSpPr>
          <p:nvPr/>
        </p:nvCxnSpPr>
        <p:spPr>
          <a:xfrm flipV="1">
            <a:off x="1763464" y="3331296"/>
            <a:ext cx="792089" cy="88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B7D8453-75C5-025F-752D-EB401B24FFD1}"/>
              </a:ext>
            </a:extLst>
          </p:cNvPr>
          <p:cNvCxnSpPr>
            <a:stCxn id="8" idx="3"/>
            <a:endCxn id="17" idx="1"/>
          </p:cNvCxnSpPr>
          <p:nvPr/>
        </p:nvCxnSpPr>
        <p:spPr>
          <a:xfrm>
            <a:off x="1763464" y="3420255"/>
            <a:ext cx="792089" cy="169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99A77EF-DEFD-488D-C069-ED2DDE377800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1763464" y="3420255"/>
            <a:ext cx="787498" cy="428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bgerundetes Rechteck 53">
            <a:extLst>
              <a:ext uri="{FF2B5EF4-FFF2-40B4-BE49-F238E27FC236}">
                <a16:creationId xmlns:a16="http://schemas.microsoft.com/office/drawing/2014/main" id="{7816351C-576C-9A66-E6B4-48C97E24AC4A}"/>
              </a:ext>
            </a:extLst>
          </p:cNvPr>
          <p:cNvSpPr/>
          <p:nvPr/>
        </p:nvSpPr>
        <p:spPr>
          <a:xfrm>
            <a:off x="3595294" y="2741620"/>
            <a:ext cx="792088" cy="309846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 err="1">
                <a:solidFill>
                  <a:sysClr val="windowText" lastClr="000000"/>
                </a:solidFill>
              </a:rPr>
              <a:t>machine</a:t>
            </a:r>
            <a:r>
              <a:rPr lang="de-DE" sz="800" dirty="0">
                <a:solidFill>
                  <a:sysClr val="windowText" lastClr="000000"/>
                </a:solidFill>
              </a:rPr>
              <a:t> </a:t>
            </a:r>
            <a:r>
              <a:rPr lang="de-DE" sz="800" dirty="0" err="1">
                <a:solidFill>
                  <a:sysClr val="windowText" lastClr="000000"/>
                </a:solidFill>
              </a:rPr>
              <a:t>utilisation</a:t>
            </a:r>
            <a:r>
              <a:rPr lang="de-DE" sz="800" dirty="0">
                <a:solidFill>
                  <a:sysClr val="windowText" lastClr="000000"/>
                </a:solidFill>
              </a:rPr>
              <a:t> [%]</a:t>
            </a:r>
          </a:p>
        </p:txBody>
      </p:sp>
      <p:sp>
        <p:nvSpPr>
          <p:cNvPr id="55" name="Abgerundetes Rechteck 54">
            <a:extLst>
              <a:ext uri="{FF2B5EF4-FFF2-40B4-BE49-F238E27FC236}">
                <a16:creationId xmlns:a16="http://schemas.microsoft.com/office/drawing/2014/main" id="{FA21338D-389C-ECF4-57A3-276FFD043B8F}"/>
              </a:ext>
            </a:extLst>
          </p:cNvPr>
          <p:cNvSpPr/>
          <p:nvPr/>
        </p:nvSpPr>
        <p:spPr>
          <a:xfrm>
            <a:off x="4622109" y="2480406"/>
            <a:ext cx="792088" cy="900464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b="1" dirty="0">
                <a:solidFill>
                  <a:sysClr val="windowText" lastClr="000000"/>
                </a:solidFill>
              </a:rPr>
              <a:t>Operating Supply</a:t>
            </a:r>
          </a:p>
          <a:p>
            <a:endParaRPr lang="de-DE" sz="800" dirty="0">
              <a:solidFill>
                <a:sysClr val="windowText" lastClr="000000"/>
              </a:solidFill>
            </a:endParaRPr>
          </a:p>
          <a:p>
            <a:r>
              <a:rPr lang="de-DE" sz="800" dirty="0">
                <a:solidFill>
                  <a:sysClr val="windowText" lastClr="000000"/>
                </a:solidFill>
              </a:rPr>
              <a:t>Oil</a:t>
            </a:r>
          </a:p>
          <a:p>
            <a:r>
              <a:rPr lang="de-DE" sz="800" dirty="0">
                <a:solidFill>
                  <a:sysClr val="windowText" lastClr="000000"/>
                </a:solidFill>
              </a:rPr>
              <a:t>Diesel</a:t>
            </a:r>
          </a:p>
          <a:p>
            <a:r>
              <a:rPr lang="de-DE" sz="800" dirty="0">
                <a:solidFill>
                  <a:sysClr val="windowText" lastClr="000000"/>
                </a:solidFill>
              </a:rPr>
              <a:t>O</a:t>
            </a:r>
            <a:r>
              <a:rPr lang="de-DE" sz="800" baseline="-25000" dirty="0">
                <a:solidFill>
                  <a:sysClr val="windowText" lastClr="000000"/>
                </a:solidFill>
              </a:rPr>
              <a:t>2</a:t>
            </a:r>
          </a:p>
          <a:p>
            <a:r>
              <a:rPr lang="de-DE" sz="800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57" name="Abgerundetes Rechteck 56">
            <a:extLst>
              <a:ext uri="{FF2B5EF4-FFF2-40B4-BE49-F238E27FC236}">
                <a16:creationId xmlns:a16="http://schemas.microsoft.com/office/drawing/2014/main" id="{BBF9E708-0883-3A26-1193-9D3F6C57708E}"/>
              </a:ext>
            </a:extLst>
          </p:cNvPr>
          <p:cNvSpPr/>
          <p:nvPr/>
        </p:nvSpPr>
        <p:spPr>
          <a:xfrm>
            <a:off x="5646870" y="2714983"/>
            <a:ext cx="792088" cy="309846"/>
          </a:xfrm>
          <a:prstGeom prst="roundRect">
            <a:avLst>
              <a:gd name="adj" fmla="val 9750"/>
            </a:avLst>
          </a:prstGeom>
          <a:gradFill flip="none" rotWithShape="1">
            <a:gsLst>
              <a:gs pos="0">
                <a:srgbClr val="D07107"/>
              </a:gs>
              <a:gs pos="50000">
                <a:schemeClr val="bg1"/>
              </a:gs>
              <a:gs pos="100000">
                <a:schemeClr val="accent6">
                  <a:lumMod val="7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>
                <a:solidFill>
                  <a:sysClr val="windowText" lastClr="000000"/>
                </a:solidFill>
              </a:rPr>
              <a:t>Gas </a:t>
            </a:r>
            <a:r>
              <a:rPr lang="de-DE" sz="700" b="1" dirty="0" err="1">
                <a:solidFill>
                  <a:sysClr val="windowText" lastClr="000000"/>
                </a:solidFill>
              </a:rPr>
              <a:t>processing</a:t>
            </a:r>
            <a:endParaRPr lang="de-DE" sz="700" b="1" dirty="0">
              <a:solidFill>
                <a:sysClr val="windowText" lastClr="000000"/>
              </a:solidFill>
            </a:endParaRPr>
          </a:p>
        </p:txBody>
      </p:sp>
      <p:sp>
        <p:nvSpPr>
          <p:cNvPr id="58" name="Abgerundetes Rechteck 57">
            <a:extLst>
              <a:ext uri="{FF2B5EF4-FFF2-40B4-BE49-F238E27FC236}">
                <a16:creationId xmlns:a16="http://schemas.microsoft.com/office/drawing/2014/main" id="{FFF4449D-BB7A-5307-77FA-ADD91FABBC9D}"/>
              </a:ext>
            </a:extLst>
          </p:cNvPr>
          <p:cNvSpPr/>
          <p:nvPr/>
        </p:nvSpPr>
        <p:spPr>
          <a:xfrm>
            <a:off x="4760350" y="1233284"/>
            <a:ext cx="792088" cy="309846"/>
          </a:xfrm>
          <a:prstGeom prst="roundRect">
            <a:avLst>
              <a:gd name="adj" fmla="val 975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 err="1">
                <a:solidFill>
                  <a:sysClr val="windowText" lastClr="000000"/>
                </a:solidFill>
              </a:rPr>
              <a:t>machine</a:t>
            </a:r>
            <a:r>
              <a:rPr lang="de-DE" sz="800" dirty="0">
                <a:solidFill>
                  <a:sysClr val="windowText" lastClr="000000"/>
                </a:solidFill>
              </a:rPr>
              <a:t> </a:t>
            </a:r>
            <a:r>
              <a:rPr lang="de-DE" sz="800" dirty="0" err="1">
                <a:solidFill>
                  <a:sysClr val="windowText" lastClr="000000"/>
                </a:solidFill>
              </a:rPr>
              <a:t>production</a:t>
            </a:r>
            <a:endParaRPr lang="de-DE" sz="800" dirty="0">
              <a:solidFill>
                <a:sysClr val="windowText" lastClr="000000"/>
              </a:solidFill>
            </a:endParaRPr>
          </a:p>
        </p:txBody>
      </p:sp>
      <p:sp>
        <p:nvSpPr>
          <p:cNvPr id="71" name="Abgerundetes Rechteck 70">
            <a:extLst>
              <a:ext uri="{FF2B5EF4-FFF2-40B4-BE49-F238E27FC236}">
                <a16:creationId xmlns:a16="http://schemas.microsoft.com/office/drawing/2014/main" id="{614C12FB-ADC0-545F-7362-8C8847FEA337}"/>
              </a:ext>
            </a:extLst>
          </p:cNvPr>
          <p:cNvSpPr/>
          <p:nvPr/>
        </p:nvSpPr>
        <p:spPr>
          <a:xfrm>
            <a:off x="3546423" y="1739159"/>
            <a:ext cx="2956921" cy="2549101"/>
          </a:xfrm>
          <a:prstGeom prst="roundRect">
            <a:avLst>
              <a:gd name="adj" fmla="val 33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EAB9318-0A84-30FB-E752-050F9F0FCC12}"/>
              </a:ext>
            </a:extLst>
          </p:cNvPr>
          <p:cNvSpPr txBox="1"/>
          <p:nvPr/>
        </p:nvSpPr>
        <p:spPr>
          <a:xfrm>
            <a:off x="3515183" y="1731029"/>
            <a:ext cx="28023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/>
              <a:t>Model </a:t>
            </a:r>
            <a:r>
              <a:rPr lang="de-DE" sz="800" b="1" i="1" dirty="0" err="1"/>
              <a:t>parameters</a:t>
            </a:r>
            <a:r>
              <a:rPr lang="de-DE" sz="800" b="1" i="1" dirty="0"/>
              <a:t> </a:t>
            </a:r>
            <a:r>
              <a:rPr lang="de-DE" sz="800" b="1" i="1" dirty="0" err="1"/>
              <a:t>affected</a:t>
            </a:r>
            <a:r>
              <a:rPr lang="de-DE" sz="800" b="1" i="1" dirty="0"/>
              <a:t> </a:t>
            </a:r>
            <a:r>
              <a:rPr lang="de-DE" sz="800" b="1" i="1" dirty="0" err="1"/>
              <a:t>by</a:t>
            </a:r>
            <a:r>
              <a:rPr lang="de-DE" sz="800" b="1" i="1" dirty="0"/>
              <a:t> Volume Flow and CH4 </a:t>
            </a:r>
            <a:r>
              <a:rPr lang="de-DE" sz="800" b="1" i="1" dirty="0" err="1"/>
              <a:t>content</a:t>
            </a:r>
            <a:endParaRPr lang="de-DE" sz="800" b="1" i="1" dirty="0"/>
          </a:p>
        </p:txBody>
      </p:sp>
      <p:sp>
        <p:nvSpPr>
          <p:cNvPr id="73" name="Abgerundetes Rechteck 72">
            <a:extLst>
              <a:ext uri="{FF2B5EF4-FFF2-40B4-BE49-F238E27FC236}">
                <a16:creationId xmlns:a16="http://schemas.microsoft.com/office/drawing/2014/main" id="{5568F1C5-1839-355B-E546-22A3B58129A8}"/>
              </a:ext>
            </a:extLst>
          </p:cNvPr>
          <p:cNvSpPr/>
          <p:nvPr/>
        </p:nvSpPr>
        <p:spPr>
          <a:xfrm flipV="1">
            <a:off x="3546422" y="1151085"/>
            <a:ext cx="2956921" cy="497640"/>
          </a:xfrm>
          <a:prstGeom prst="roundRect">
            <a:avLst>
              <a:gd name="adj" fmla="val 161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C776946-1AEB-5588-FE17-F570B1FDE80E}"/>
              </a:ext>
            </a:extLst>
          </p:cNvPr>
          <p:cNvSpPr txBox="1"/>
          <p:nvPr/>
        </p:nvSpPr>
        <p:spPr>
          <a:xfrm>
            <a:off x="3512682" y="1127939"/>
            <a:ext cx="957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/>
              <a:t>Other </a:t>
            </a:r>
            <a:r>
              <a:rPr lang="de-DE" sz="800" b="1" i="1" dirty="0" err="1"/>
              <a:t>parameters</a:t>
            </a:r>
            <a:endParaRPr lang="de-DE" sz="800" b="1" i="1" dirty="0"/>
          </a:p>
        </p:txBody>
      </p:sp>
      <p:sp>
        <p:nvSpPr>
          <p:cNvPr id="84" name="Abgerundetes Rechteck 83">
            <a:extLst>
              <a:ext uri="{FF2B5EF4-FFF2-40B4-BE49-F238E27FC236}">
                <a16:creationId xmlns:a16="http://schemas.microsoft.com/office/drawing/2014/main" id="{84A3C8CA-7A2B-21BF-A3F8-B57045CD514F}"/>
              </a:ext>
            </a:extLst>
          </p:cNvPr>
          <p:cNvSpPr/>
          <p:nvPr/>
        </p:nvSpPr>
        <p:spPr>
          <a:xfrm>
            <a:off x="6946673" y="2272280"/>
            <a:ext cx="844710" cy="2160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Year 1 </a:t>
            </a:r>
            <a:r>
              <a:rPr lang="de-DE" sz="900" dirty="0" err="1"/>
              <a:t>results</a:t>
            </a:r>
            <a:endParaRPr lang="de-DE" sz="900" dirty="0"/>
          </a:p>
        </p:txBody>
      </p:sp>
      <p:sp>
        <p:nvSpPr>
          <p:cNvPr id="85" name="Abgerundetes Rechteck 84">
            <a:extLst>
              <a:ext uri="{FF2B5EF4-FFF2-40B4-BE49-F238E27FC236}">
                <a16:creationId xmlns:a16="http://schemas.microsoft.com/office/drawing/2014/main" id="{3F3DB260-7D89-1BCD-8487-AA44AFD166D3}"/>
              </a:ext>
            </a:extLst>
          </p:cNvPr>
          <p:cNvSpPr/>
          <p:nvPr/>
        </p:nvSpPr>
        <p:spPr>
          <a:xfrm>
            <a:off x="6946673" y="2562087"/>
            <a:ext cx="844710" cy="2160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Year 2 </a:t>
            </a:r>
            <a:r>
              <a:rPr lang="de-DE" sz="900" dirty="0" err="1"/>
              <a:t>results</a:t>
            </a:r>
            <a:endParaRPr lang="de-DE" sz="900" dirty="0"/>
          </a:p>
        </p:txBody>
      </p:sp>
      <p:sp>
        <p:nvSpPr>
          <p:cNvPr id="86" name="Abgerundetes Rechteck 85">
            <a:extLst>
              <a:ext uri="{FF2B5EF4-FFF2-40B4-BE49-F238E27FC236}">
                <a16:creationId xmlns:a16="http://schemas.microsoft.com/office/drawing/2014/main" id="{00229987-9649-0978-78EF-E27205469FC2}"/>
              </a:ext>
            </a:extLst>
          </p:cNvPr>
          <p:cNvSpPr/>
          <p:nvPr/>
        </p:nvSpPr>
        <p:spPr>
          <a:xfrm>
            <a:off x="6946673" y="2851580"/>
            <a:ext cx="844710" cy="2160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Year 3 </a:t>
            </a:r>
            <a:r>
              <a:rPr lang="de-DE" sz="900" dirty="0" err="1"/>
              <a:t>results</a:t>
            </a:r>
            <a:endParaRPr lang="de-DE" sz="900" dirty="0"/>
          </a:p>
        </p:txBody>
      </p:sp>
      <p:sp>
        <p:nvSpPr>
          <p:cNvPr id="87" name="Abgerundetes Rechteck 86">
            <a:extLst>
              <a:ext uri="{FF2B5EF4-FFF2-40B4-BE49-F238E27FC236}">
                <a16:creationId xmlns:a16="http://schemas.microsoft.com/office/drawing/2014/main" id="{DAB903C0-02FE-CD3E-06C8-C4B732BB8B0E}"/>
              </a:ext>
            </a:extLst>
          </p:cNvPr>
          <p:cNvSpPr/>
          <p:nvPr/>
        </p:nvSpPr>
        <p:spPr>
          <a:xfrm>
            <a:off x="6954159" y="3152160"/>
            <a:ext cx="844710" cy="2160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/>
              <a:t>Year 4 </a:t>
            </a:r>
            <a:r>
              <a:rPr lang="de-DE" sz="900" dirty="0" err="1"/>
              <a:t>results</a:t>
            </a:r>
            <a:endParaRPr lang="de-DE" sz="9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85F78B6-55FF-FCD7-3B2B-051765AC6672}"/>
              </a:ext>
            </a:extLst>
          </p:cNvPr>
          <p:cNvSpPr/>
          <p:nvPr/>
        </p:nvSpPr>
        <p:spPr>
          <a:xfrm>
            <a:off x="7359335" y="3414641"/>
            <a:ext cx="73339" cy="634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01E5521-2BC8-2DB8-33A3-DC240AA42733}"/>
              </a:ext>
            </a:extLst>
          </p:cNvPr>
          <p:cNvSpPr/>
          <p:nvPr/>
        </p:nvSpPr>
        <p:spPr>
          <a:xfrm>
            <a:off x="7359334" y="3520068"/>
            <a:ext cx="73339" cy="634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2BE0F07-1B9D-6EA7-F4F6-0FEE1846635E}"/>
              </a:ext>
            </a:extLst>
          </p:cNvPr>
          <p:cNvSpPr/>
          <p:nvPr/>
        </p:nvSpPr>
        <p:spPr>
          <a:xfrm flipH="1" flipV="1">
            <a:off x="7359334" y="3613084"/>
            <a:ext cx="73339" cy="634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Abgerundetes Rechteck 90">
            <a:extLst>
              <a:ext uri="{FF2B5EF4-FFF2-40B4-BE49-F238E27FC236}">
                <a16:creationId xmlns:a16="http://schemas.microsoft.com/office/drawing/2014/main" id="{5D922C55-4581-735B-E253-B6CE42726918}"/>
              </a:ext>
            </a:extLst>
          </p:cNvPr>
          <p:cNvSpPr/>
          <p:nvPr/>
        </p:nvSpPr>
        <p:spPr>
          <a:xfrm>
            <a:off x="8244184" y="1233283"/>
            <a:ext cx="599341" cy="2943057"/>
          </a:xfrm>
          <a:prstGeom prst="roundRect">
            <a:avLst>
              <a:gd name="adj" fmla="val 6338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b="1" dirty="0" err="1">
                <a:solidFill>
                  <a:schemeClr val="bg1"/>
                </a:solidFill>
              </a:rPr>
              <a:t>Sum</a:t>
            </a:r>
            <a:r>
              <a:rPr lang="de-DE" sz="800" b="1" dirty="0">
                <a:solidFill>
                  <a:schemeClr val="bg1"/>
                </a:solidFill>
              </a:rPr>
              <a:t> </a:t>
            </a:r>
            <a:r>
              <a:rPr lang="de-DE" sz="800" b="1" dirty="0" err="1">
                <a:solidFill>
                  <a:schemeClr val="bg1"/>
                </a:solidFill>
              </a:rPr>
              <a:t>of</a:t>
            </a:r>
            <a:r>
              <a:rPr lang="de-DE" sz="800" b="1" dirty="0">
                <a:solidFill>
                  <a:schemeClr val="bg1"/>
                </a:solidFill>
              </a:rPr>
              <a:t> </a:t>
            </a:r>
            <a:r>
              <a:rPr lang="de-DE" sz="800" b="1" dirty="0" err="1">
                <a:solidFill>
                  <a:schemeClr val="bg1"/>
                </a:solidFill>
              </a:rPr>
              <a:t>results</a:t>
            </a:r>
            <a:endParaRPr lang="de-DE" sz="800" b="1" dirty="0">
              <a:solidFill>
                <a:schemeClr val="bg1"/>
              </a:solidFill>
            </a:endParaRPr>
          </a:p>
        </p:txBody>
      </p:sp>
      <p:sp>
        <p:nvSpPr>
          <p:cNvPr id="96" name="Abgerundetes Rechteck 95">
            <a:extLst>
              <a:ext uri="{FF2B5EF4-FFF2-40B4-BE49-F238E27FC236}">
                <a16:creationId xmlns:a16="http://schemas.microsoft.com/office/drawing/2014/main" id="{567EBDF1-F9E1-5371-44D5-38279F9BC57B}"/>
              </a:ext>
            </a:extLst>
          </p:cNvPr>
          <p:cNvSpPr/>
          <p:nvPr/>
        </p:nvSpPr>
        <p:spPr>
          <a:xfrm>
            <a:off x="94067" y="1151084"/>
            <a:ext cx="2037497" cy="3135155"/>
          </a:xfrm>
          <a:prstGeom prst="roundRect">
            <a:avLst>
              <a:gd name="adj" fmla="val 33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27AFDFCD-0AD4-A60C-2DE4-786E583BABA4}"/>
              </a:ext>
            </a:extLst>
          </p:cNvPr>
          <p:cNvSpPr txBox="1"/>
          <p:nvPr/>
        </p:nvSpPr>
        <p:spPr>
          <a:xfrm>
            <a:off x="53738" y="1152791"/>
            <a:ext cx="14734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/>
              <a:t>Input </a:t>
            </a:r>
            <a:r>
              <a:rPr lang="de-DE" sz="800" b="1" i="1" dirty="0" err="1"/>
              <a:t>parameters</a:t>
            </a:r>
            <a:r>
              <a:rPr lang="de-DE" sz="800" b="1" i="1" dirty="0"/>
              <a:t> (</a:t>
            </a:r>
            <a:r>
              <a:rPr lang="de-DE" sz="800" b="1" i="1" dirty="0" err="1"/>
              <a:t>adjustable</a:t>
            </a:r>
            <a:r>
              <a:rPr lang="de-DE" sz="800" b="1" i="1" dirty="0"/>
              <a:t>)</a:t>
            </a:r>
          </a:p>
        </p:txBody>
      </p:sp>
      <p:cxnSp>
        <p:nvCxnSpPr>
          <p:cNvPr id="99" name="Gewinkelte Verbindung 98">
            <a:extLst>
              <a:ext uri="{FF2B5EF4-FFF2-40B4-BE49-F238E27FC236}">
                <a16:creationId xmlns:a16="http://schemas.microsoft.com/office/drawing/2014/main" id="{34082857-C5EC-2ACD-1CB1-A37F244089C0}"/>
              </a:ext>
            </a:extLst>
          </p:cNvPr>
          <p:cNvCxnSpPr>
            <a:stCxn id="5" idx="3"/>
            <a:endCxn id="73" idx="1"/>
          </p:cNvCxnSpPr>
          <p:nvPr/>
        </p:nvCxnSpPr>
        <p:spPr>
          <a:xfrm rot="5400000" flipH="1" flipV="1">
            <a:off x="1356738" y="474485"/>
            <a:ext cx="1264264" cy="31151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Abgerundetes Rechteck 99">
            <a:extLst>
              <a:ext uri="{FF2B5EF4-FFF2-40B4-BE49-F238E27FC236}">
                <a16:creationId xmlns:a16="http://schemas.microsoft.com/office/drawing/2014/main" id="{7A2F221C-E4A7-DE35-D633-C2CA26513959}"/>
              </a:ext>
            </a:extLst>
          </p:cNvPr>
          <p:cNvSpPr/>
          <p:nvPr/>
        </p:nvSpPr>
        <p:spPr>
          <a:xfrm>
            <a:off x="2231515" y="1151084"/>
            <a:ext cx="1216152" cy="3135155"/>
          </a:xfrm>
          <a:prstGeom prst="roundRect">
            <a:avLst>
              <a:gd name="adj" fmla="val 688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0486AC-EC00-4257-42B0-029738448AF8}"/>
              </a:ext>
            </a:extLst>
          </p:cNvPr>
          <p:cNvSpPr txBox="1"/>
          <p:nvPr/>
        </p:nvSpPr>
        <p:spPr>
          <a:xfrm>
            <a:off x="2159037" y="1139698"/>
            <a:ext cx="8146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/>
              <a:t>Iteration Cycle</a:t>
            </a:r>
          </a:p>
        </p:txBody>
      </p:sp>
      <p:sp>
        <p:nvSpPr>
          <p:cNvPr id="168" name="Abgerundetes Rechteck 167">
            <a:extLst>
              <a:ext uri="{FF2B5EF4-FFF2-40B4-BE49-F238E27FC236}">
                <a16:creationId xmlns:a16="http://schemas.microsoft.com/office/drawing/2014/main" id="{6985851C-7525-6E36-33FE-3CF67A2DE941}"/>
              </a:ext>
            </a:extLst>
          </p:cNvPr>
          <p:cNvSpPr/>
          <p:nvPr/>
        </p:nvSpPr>
        <p:spPr>
          <a:xfrm>
            <a:off x="6766366" y="1145847"/>
            <a:ext cx="2179434" cy="3135155"/>
          </a:xfrm>
          <a:prstGeom prst="roundRect">
            <a:avLst>
              <a:gd name="adj" fmla="val 33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9" name="Textfeld 168">
            <a:extLst>
              <a:ext uri="{FF2B5EF4-FFF2-40B4-BE49-F238E27FC236}">
                <a16:creationId xmlns:a16="http://schemas.microsoft.com/office/drawing/2014/main" id="{450FD929-D172-8069-CD89-FCE54BB87328}"/>
              </a:ext>
            </a:extLst>
          </p:cNvPr>
          <p:cNvSpPr txBox="1"/>
          <p:nvPr/>
        </p:nvSpPr>
        <p:spPr>
          <a:xfrm>
            <a:off x="6710166" y="1140664"/>
            <a:ext cx="1015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i="1" dirty="0"/>
              <a:t>Iteration </a:t>
            </a:r>
            <a:r>
              <a:rPr lang="de-DE" sz="800" b="1" i="1" dirty="0" err="1"/>
              <a:t>results</a:t>
            </a:r>
            <a:r>
              <a:rPr lang="de-DE" sz="800" b="1" i="1" dirty="0"/>
              <a:t> / </a:t>
            </a:r>
            <a:br>
              <a:rPr lang="de-DE" sz="800" b="1" i="1" dirty="0"/>
            </a:br>
            <a:r>
              <a:rPr lang="de-DE" sz="800" b="1" i="1" dirty="0"/>
              <a:t>Output </a:t>
            </a:r>
            <a:r>
              <a:rPr lang="de-DE" sz="800" b="1" i="1" dirty="0" err="1"/>
              <a:t>parameters</a:t>
            </a:r>
            <a:endParaRPr lang="de-DE" sz="800" b="1" i="1" dirty="0"/>
          </a:p>
        </p:txBody>
      </p:sp>
      <p:sp>
        <p:nvSpPr>
          <p:cNvPr id="174" name="Pfeil nach rechts 173">
            <a:extLst>
              <a:ext uri="{FF2B5EF4-FFF2-40B4-BE49-F238E27FC236}">
                <a16:creationId xmlns:a16="http://schemas.microsoft.com/office/drawing/2014/main" id="{EDE2D86B-8AA5-47DA-D64A-BADDF6AF6534}"/>
              </a:ext>
            </a:extLst>
          </p:cNvPr>
          <p:cNvSpPr/>
          <p:nvPr/>
        </p:nvSpPr>
        <p:spPr>
          <a:xfrm>
            <a:off x="7974402" y="2563864"/>
            <a:ext cx="216024" cy="580429"/>
          </a:xfrm>
          <a:prstGeom prst="rightArrow">
            <a:avLst>
              <a:gd name="adj1" fmla="val 24794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5" name="Gerade Verbindung mit Pfeil 174">
            <a:extLst>
              <a:ext uri="{FF2B5EF4-FFF2-40B4-BE49-F238E27FC236}">
                <a16:creationId xmlns:a16="http://schemas.microsoft.com/office/drawing/2014/main" id="{A70AFA7B-3599-4A50-1A4C-8C67BD76A79A}"/>
              </a:ext>
            </a:extLst>
          </p:cNvPr>
          <p:cNvCxnSpPr>
            <a:cxnSpLocks/>
          </p:cNvCxnSpPr>
          <p:nvPr/>
        </p:nvCxnSpPr>
        <p:spPr>
          <a:xfrm>
            <a:off x="4387382" y="2875661"/>
            <a:ext cx="2201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A2DC722E-4E50-A265-7ADD-30109DAFEDB7}"/>
              </a:ext>
            </a:extLst>
          </p:cNvPr>
          <p:cNvCxnSpPr>
            <a:cxnSpLocks/>
          </p:cNvCxnSpPr>
          <p:nvPr/>
        </p:nvCxnSpPr>
        <p:spPr>
          <a:xfrm>
            <a:off x="5414197" y="2875661"/>
            <a:ext cx="2201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winkelte Verbindung 179">
            <a:extLst>
              <a:ext uri="{FF2B5EF4-FFF2-40B4-BE49-F238E27FC236}">
                <a16:creationId xmlns:a16="http://schemas.microsoft.com/office/drawing/2014/main" id="{9380198C-CB51-3BFF-379D-A7F4762D9AB7}"/>
              </a:ext>
            </a:extLst>
          </p:cNvPr>
          <p:cNvCxnSpPr>
            <a:cxnSpLocks/>
          </p:cNvCxnSpPr>
          <p:nvPr/>
        </p:nvCxnSpPr>
        <p:spPr>
          <a:xfrm>
            <a:off x="3220443" y="2252356"/>
            <a:ext cx="796794" cy="474845"/>
          </a:xfrm>
          <a:prstGeom prst="bentConnector3">
            <a:avLst>
              <a:gd name="adj1" fmla="val 99272"/>
            </a:avLst>
          </a:prstGeom>
          <a:ln w="38100">
            <a:solidFill>
              <a:srgbClr val="D071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Gewinkelte Verbindung 183">
            <a:extLst>
              <a:ext uri="{FF2B5EF4-FFF2-40B4-BE49-F238E27FC236}">
                <a16:creationId xmlns:a16="http://schemas.microsoft.com/office/drawing/2014/main" id="{45E08474-1360-2FC8-8726-AD93910FEBAA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4012121" y="2250461"/>
            <a:ext cx="1006032" cy="229945"/>
          </a:xfrm>
          <a:prstGeom prst="bentConnector2">
            <a:avLst/>
          </a:prstGeom>
          <a:ln w="38100">
            <a:solidFill>
              <a:srgbClr val="D071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Gewinkelte Verbindung 185">
            <a:extLst>
              <a:ext uri="{FF2B5EF4-FFF2-40B4-BE49-F238E27FC236}">
                <a16:creationId xmlns:a16="http://schemas.microsoft.com/office/drawing/2014/main" id="{7FAE09AE-8950-4FD4-EB3F-7693E584E137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3207295" y="3024829"/>
            <a:ext cx="2835619" cy="580776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Pfeil nach rechts 187">
            <a:extLst>
              <a:ext uri="{FF2B5EF4-FFF2-40B4-BE49-F238E27FC236}">
                <a16:creationId xmlns:a16="http://schemas.microsoft.com/office/drawing/2014/main" id="{C89B75DD-BCDD-24E6-D1CE-02CA793F5AE8}"/>
              </a:ext>
            </a:extLst>
          </p:cNvPr>
          <p:cNvSpPr/>
          <p:nvPr/>
        </p:nvSpPr>
        <p:spPr>
          <a:xfrm>
            <a:off x="6531535" y="2579691"/>
            <a:ext cx="216024" cy="580429"/>
          </a:xfrm>
          <a:prstGeom prst="rightArrow">
            <a:avLst>
              <a:gd name="adj1" fmla="val 24794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5" name="Gewinkelte Verbindung 204">
            <a:extLst>
              <a:ext uri="{FF2B5EF4-FFF2-40B4-BE49-F238E27FC236}">
                <a16:creationId xmlns:a16="http://schemas.microsoft.com/office/drawing/2014/main" id="{903D2F33-760C-6156-BF84-B07CC6EDA2AD}"/>
              </a:ext>
            </a:extLst>
          </p:cNvPr>
          <p:cNvCxnSpPr>
            <a:cxnSpLocks/>
          </p:cNvCxnSpPr>
          <p:nvPr/>
        </p:nvCxnSpPr>
        <p:spPr>
          <a:xfrm>
            <a:off x="4853181" y="2251131"/>
            <a:ext cx="1191351" cy="468438"/>
          </a:xfrm>
          <a:prstGeom prst="bentConnector2">
            <a:avLst/>
          </a:prstGeom>
          <a:ln w="38100">
            <a:solidFill>
              <a:srgbClr val="D071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40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Input Parameters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4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EAD77A-E5FC-442F-2E6E-B2C5D7D6F8E1}"/>
              </a:ext>
            </a:extLst>
          </p:cNvPr>
          <p:cNvSpPr txBox="1"/>
          <p:nvPr/>
        </p:nvSpPr>
        <p:spPr>
          <a:xfrm>
            <a:off x="179289" y="1203316"/>
            <a:ext cx="8741496" cy="3031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Input - parameters have been </a:t>
            </a:r>
            <a:r>
              <a:rPr lang="en-GB" sz="12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identifyed</a:t>
            </a: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as most important: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b="1" dirty="0"/>
              <a:t>LCLFG volume flow at year 1 </a:t>
            </a:r>
            <a:r>
              <a:rPr lang="en-GB" sz="1100" dirty="0"/>
              <a:t>– </a:t>
            </a:r>
            <a:r>
              <a:rPr lang="en-GB" sz="1100" i="1" dirty="0"/>
              <a:t>defines the</a:t>
            </a:r>
            <a:r>
              <a:rPr lang="en-GB" sz="1100" dirty="0"/>
              <a:t> </a:t>
            </a:r>
            <a:r>
              <a:rPr lang="en-GB" sz="1100" i="1" dirty="0"/>
              <a:t>amount of  Gas that the landfill emits at the beginning of the observed time horizon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b="1" dirty="0"/>
              <a:t>CH4 content at year 1 </a:t>
            </a:r>
            <a:r>
              <a:rPr lang="en-GB" sz="1100" dirty="0"/>
              <a:t>– </a:t>
            </a:r>
            <a:r>
              <a:rPr lang="en-GB" sz="1100" i="1" dirty="0"/>
              <a:t>defines the content of CH4 in the landfill gas at the beginning of the observed time horizon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b="1" dirty="0"/>
              <a:t>Time horizon</a:t>
            </a:r>
            <a:r>
              <a:rPr lang="en-GB" sz="1100" dirty="0"/>
              <a:t> – </a:t>
            </a:r>
            <a:r>
              <a:rPr lang="en-GB" sz="1100" i="1" dirty="0"/>
              <a:t>defines the </a:t>
            </a:r>
            <a:r>
              <a:rPr lang="en-GB" sz="1100" i="1" dirty="0" err="1"/>
              <a:t>lenght</a:t>
            </a:r>
            <a:r>
              <a:rPr lang="en-GB" sz="1100" i="1" dirty="0"/>
              <a:t> of the observed period</a:t>
            </a:r>
            <a:endParaRPr lang="en-GB" sz="1100" b="1" dirty="0"/>
          </a:p>
          <a:p>
            <a:pPr marL="336008" lvl="1"/>
            <a:endParaRPr lang="en-GB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0524" indent="-171450">
              <a:buFont typeface="Arial" panose="020B0604020202020204" pitchFamily="34" charset="0"/>
              <a:buChar char="•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LCLFG Flow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b="1" dirty="0"/>
              <a:t>Directly impacts the following model parameters 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machine capacity utilisation, use of operating resources (oil etc.), maintenance resources (use of filters etc.)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Gas processing: How much energy is produced; </a:t>
            </a:r>
            <a:r>
              <a:rPr lang="en-GB" sz="1100" dirty="0" err="1"/>
              <a:t>Qantity</a:t>
            </a:r>
            <a:r>
              <a:rPr lang="en-GB" sz="1100" dirty="0"/>
              <a:t> and quality of emissions</a:t>
            </a:r>
          </a:p>
          <a:p>
            <a:pPr marL="170524" indent="-171450">
              <a:buFont typeface="Arial" panose="020B0604020202020204" pitchFamily="34" charset="0"/>
              <a:buChar char="•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Ch4 content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b="1" dirty="0"/>
              <a:t>Directly impacts the following model parameters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Use of operating resources: How much Diesel (DFE), Oxygen enriched gas (OER), chemical fluid (SFR) is necessary ?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Gas processing: How much energy is produced; </a:t>
            </a:r>
            <a:r>
              <a:rPr lang="en-GB" sz="1100" dirty="0" err="1"/>
              <a:t>Qantity</a:t>
            </a:r>
            <a:r>
              <a:rPr lang="en-GB" sz="1100" dirty="0"/>
              <a:t> and quality of emissions</a:t>
            </a:r>
          </a:p>
          <a:p>
            <a:pPr marL="170524" indent="-171450">
              <a:buFont typeface="Arial" panose="020B0604020202020204" pitchFamily="34" charset="0"/>
              <a:buChar char="•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horizon: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LCLFG volume flow and CH4 content are a function of the time horizon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Beginning with the input value for </a:t>
            </a:r>
            <a:r>
              <a:rPr lang="en-GB" sz="1100" i="1" dirty="0"/>
              <a:t>year 1 </a:t>
            </a:r>
            <a:r>
              <a:rPr lang="en-GB" sz="1100" dirty="0"/>
              <a:t>the tool will approximate the </a:t>
            </a:r>
            <a:r>
              <a:rPr lang="en-GB" sz="1100" dirty="0" err="1"/>
              <a:t>developement</a:t>
            </a:r>
            <a:r>
              <a:rPr lang="en-GB" sz="1100" dirty="0"/>
              <a:t> over the time horizon based on a backed model</a:t>
            </a:r>
          </a:p>
          <a:p>
            <a:pPr marL="507458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A manual input option to adjust the input variables based on the time horizon can be implemented</a:t>
            </a:r>
          </a:p>
        </p:txBody>
      </p:sp>
    </p:spTree>
    <p:extLst>
      <p:ext uri="{BB962C8B-B14F-4D97-AF65-F5344CB8AC3E}">
        <p14:creationId xmlns:p14="http://schemas.microsoft.com/office/powerpoint/2010/main" val="131838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Calculation Method – 3 Phases of calculation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5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EAD77A-E5FC-442F-2E6E-B2C5D7D6F8E1}"/>
              </a:ext>
            </a:extLst>
          </p:cNvPr>
          <p:cNvSpPr txBox="1"/>
          <p:nvPr/>
        </p:nvSpPr>
        <p:spPr>
          <a:xfrm>
            <a:off x="35273" y="1168950"/>
            <a:ext cx="787651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65534" lvl="1" indent="-228600">
              <a:buFont typeface="+mj-lt"/>
              <a:buAutoNum type="arabicPeriod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1: LCA base scenario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Calculation of a base scenario with </a:t>
            </a:r>
            <a:r>
              <a:rPr lang="en-GB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Open LCA </a:t>
            </a: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based on </a:t>
            </a:r>
            <a:r>
              <a:rPr lang="en-GB" sz="11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Ecoinvent</a:t>
            </a: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every sub step of a process:</a:t>
            </a:r>
          </a:p>
          <a:p>
            <a:pPr marL="1239401" lvl="3" indent="-228600">
              <a:buFont typeface="Arial" panose="020B0604020202020204" pitchFamily="34" charset="0"/>
              <a:buChar char="•"/>
            </a:pPr>
            <a:r>
              <a:rPr lang="en-GB" sz="11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Dual Fuel Engine: </a:t>
            </a:r>
            <a:r>
              <a:rPr lang="en-GB"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Impacts for machine production, Diesel production, machine oil use, gas processing etc.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These base scenarios will be calculated for a 100 % machine use  </a:t>
            </a:r>
          </a:p>
          <a:p>
            <a:pPr marL="1239401" lvl="3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predefined LFG volume flow has to be considered</a:t>
            </a:r>
          </a:p>
          <a:p>
            <a:pPr marL="1239401" lvl="3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predefined CH4 content of the gas will be considered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results will be exported (no need to access </a:t>
            </a:r>
            <a:r>
              <a:rPr lang="en-GB" sz="1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Ecoinvent</a:t>
            </a: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database or </a:t>
            </a:r>
            <a:r>
              <a:rPr lang="en-GB" sz="11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openLCA</a:t>
            </a: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will be necessary)</a:t>
            </a:r>
          </a:p>
          <a:p>
            <a:pPr lvl="2"/>
            <a:endParaRPr lang="en-GB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65534" lvl="1" indent="-228600">
              <a:buFont typeface="+mj-lt"/>
              <a:buAutoNum type="arabicPeriod"/>
            </a:pPr>
            <a:r>
              <a:rPr lang="en-GB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2: Relation between base scenario and model Input parameters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results will be calculated based on the relation of the input parameters to the process </a:t>
            </a:r>
            <a:endParaRPr lang="en-GB" sz="1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239401" lvl="3" indent="-228600">
              <a:buFont typeface="Arial" panose="020B0604020202020204" pitchFamily="34" charset="0"/>
              <a:buChar char="•"/>
            </a:pPr>
            <a:r>
              <a:rPr lang="en-GB" sz="11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E.g.: </a:t>
            </a:r>
            <a:r>
              <a:rPr lang="en-GB"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 flow 50% higher than in base scenario → machine use 50% higher → oil use 50% higher </a:t>
            </a:r>
            <a:br>
              <a:rPr lang="en-GB"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GB" sz="11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→ Environmental impact results of oil increase by 50% </a:t>
            </a:r>
            <a:r>
              <a:rPr lang="en-GB" sz="11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(only exemplary – probably not linear)</a:t>
            </a:r>
            <a:endParaRPr lang="en-GB" sz="11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will be important to understand the real relation between the input parameters and the sub processes of the model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endParaRPr lang="en-GB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65534" lvl="1" indent="-228600">
              <a:buFont typeface="+mj-lt"/>
              <a:buAutoNum type="arabicPeriod"/>
            </a:pPr>
            <a:r>
              <a:rPr lang="en-GB" sz="1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3: Iteration on Time horizon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two will be repeated in a loop calculation for every year of the time horizon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change of volume flow and Ch4 content will be taken into account in this way</a:t>
            </a:r>
          </a:p>
          <a:p>
            <a:pPr marL="902467" lvl="2" indent="-228600">
              <a:buFont typeface="Arial" panose="020B0604020202020204" pitchFamily="34" charset="0"/>
              <a:buChar char="•"/>
            </a:pPr>
            <a:r>
              <a:rPr lang="en-GB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final results will be the sum of the results of each iteration step and will be presented for each technology</a:t>
            </a:r>
          </a:p>
        </p:txBody>
      </p:sp>
    </p:spTree>
    <p:extLst>
      <p:ext uri="{BB962C8B-B14F-4D97-AF65-F5344CB8AC3E}">
        <p14:creationId xmlns:p14="http://schemas.microsoft.com/office/powerpoint/2010/main" val="49252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Result parameters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6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F41E1DE-C385-226F-D3AA-79475DD0E7A7}"/>
              </a:ext>
            </a:extLst>
          </p:cNvPr>
          <p:cNvSpPr txBox="1"/>
          <p:nvPr/>
        </p:nvSpPr>
        <p:spPr>
          <a:xfrm>
            <a:off x="179289" y="1203316"/>
            <a:ext cx="856895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sz="1200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Types of result parameters :</a:t>
            </a:r>
          </a:p>
          <a:p>
            <a:pPr algn="l"/>
            <a:endParaRPr lang="en-AU" sz="1200" b="1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564608" lvl="1" indent="-228600">
              <a:buFont typeface="+mj-lt"/>
              <a:buAutoNum type="arabicPeriod"/>
            </a:pPr>
            <a:r>
              <a:rPr lang="en-AU" sz="1100" b="1"/>
              <a:t>Amount of usable energy: 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AU" sz="1100"/>
              <a:t>Important for the economic calculation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AU" sz="1100"/>
              <a:t>Important for the calculation of CO2 benefits compared to the base scenario (flare)</a:t>
            </a:r>
          </a:p>
          <a:p>
            <a:pPr marL="672941" lvl="2"/>
            <a:endParaRPr lang="en-AU" sz="1100"/>
          </a:p>
          <a:p>
            <a:pPr marL="564608" lvl="1" indent="-228600">
              <a:buFont typeface="+mj-lt"/>
              <a:buAutoNum type="arabicPeriod"/>
            </a:pPr>
            <a:r>
              <a:rPr lang="en-AU" sz="1100" b="1"/>
              <a:t>Amount of emitted CO2 equivalents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AU" sz="1100"/>
              <a:t>Important for the calculation of CO2 benefits compared with the base scenario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AU" sz="1100"/>
              <a:t>May impact economical consideration</a:t>
            </a:r>
          </a:p>
          <a:p>
            <a:pPr marL="672941" lvl="2"/>
            <a:endParaRPr lang="en-AU" sz="1100"/>
          </a:p>
          <a:p>
            <a:pPr marL="564608" lvl="1" indent="-228600">
              <a:buFont typeface="+mj-lt"/>
              <a:buAutoNum type="arabicPeriod"/>
            </a:pPr>
            <a:r>
              <a:rPr lang="en-AU" sz="1100" b="1"/>
              <a:t>Other emissions to the environment:</a:t>
            </a:r>
          </a:p>
          <a:p>
            <a:pPr marL="844391" lvl="2" indent="-171450">
              <a:buFont typeface="Arial" panose="020B0604020202020204" pitchFamily="34" charset="0"/>
              <a:buChar char="•"/>
            </a:pPr>
            <a:r>
              <a:rPr lang="en-AU" sz="1100"/>
              <a:t>Can be based on </a:t>
            </a:r>
            <a:r>
              <a:rPr lang="en-AU" sz="1100" b="1"/>
              <a:t>LCIA evaluation models </a:t>
            </a:r>
            <a:r>
              <a:rPr lang="en-AU" sz="1100"/>
              <a:t>like the following:</a:t>
            </a:r>
          </a:p>
          <a:p>
            <a:pPr marL="1181325" lvl="3" indent="-171450">
              <a:buFont typeface="Arial" panose="020B0604020202020204" pitchFamily="34" charset="0"/>
              <a:buChar char="•"/>
            </a:pPr>
            <a:r>
              <a:rPr lang="en-AU" sz="1100" b="1"/>
              <a:t>ReCiPe Methodology: </a:t>
            </a:r>
            <a:r>
              <a:rPr lang="en-AU" sz="1100"/>
              <a:t>18 Midpoint Impact indicators like </a:t>
            </a:r>
            <a:r>
              <a:rPr lang="en-AU" sz="1100" i="1"/>
              <a:t>accidification, eco toxicity, raw material use … ; it is possible to use endpoint categories </a:t>
            </a:r>
          </a:p>
          <a:p>
            <a:pPr marL="1181325" lvl="3" indent="-171450">
              <a:buFont typeface="Arial" panose="020B0604020202020204" pitchFamily="34" charset="0"/>
              <a:buChar char="•"/>
            </a:pPr>
            <a:r>
              <a:rPr lang="en-AU" sz="1100" b="1"/>
              <a:t>Environmental Footprint (EF) Methodology: </a:t>
            </a:r>
            <a:r>
              <a:rPr lang="en-AU" sz="1100"/>
              <a:t>Recommended by ILCD (International Reference Life Cycle Data System) by the European Union. 25 midpoint categories</a:t>
            </a:r>
            <a:endParaRPr lang="en-AU" sz="1100" b="1"/>
          </a:p>
          <a:p>
            <a:pPr marL="336008" lvl="1"/>
            <a:endParaRPr lang="en-AU" sz="11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17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Questions to the Environmental model concept?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7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EAD77A-E5FC-442F-2E6E-B2C5D7D6F8E1}"/>
              </a:ext>
            </a:extLst>
          </p:cNvPr>
          <p:cNvSpPr txBox="1"/>
          <p:nvPr/>
        </p:nvSpPr>
        <p:spPr>
          <a:xfrm>
            <a:off x="323305" y="1152004"/>
            <a:ext cx="83529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Please note your remarks and questions:</a:t>
            </a:r>
          </a:p>
          <a:p>
            <a:pPr algn="ctr"/>
            <a:endParaRPr lang="en-GB" sz="1600" b="1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recommend to consider other </a:t>
            </a:r>
            <a:r>
              <a:rPr lang="en-GB" sz="1200" b="1" dirty="0"/>
              <a:t>input parameters </a:t>
            </a:r>
            <a:r>
              <a:rPr lang="en-GB" sz="1200" dirty="0"/>
              <a:t>than the previously mentioned ones?</a:t>
            </a:r>
          </a:p>
          <a:p>
            <a:pPr marL="508384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E.g. more adjustable parameters to characterize the landfill , include the use time of the machine as input parameter</a:t>
            </a:r>
          </a:p>
          <a:p>
            <a:pPr lvl="1"/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think the calculation method is consistent?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have any recommendations for result parameters?</a:t>
            </a:r>
            <a:endParaRPr lang="en-GB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78FFBE5-85FC-CAC3-58A7-24975D841A63}"/>
              </a:ext>
            </a:extLst>
          </p:cNvPr>
          <p:cNvSpPr txBox="1"/>
          <p:nvPr/>
        </p:nvSpPr>
        <p:spPr>
          <a:xfrm>
            <a:off x="323305" y="3023606"/>
            <a:ext cx="8003082" cy="50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Your remarks: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3188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AU"/>
              <a:t>Economical Model Concept</a:t>
            </a: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8</a:t>
            </a:fld>
            <a:endParaRPr lang="pl-PL" dirty="0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38542DF6-5ED8-2364-600D-FC1B122EFF9A}"/>
              </a:ext>
            </a:extLst>
          </p:cNvPr>
          <p:cNvSpPr/>
          <p:nvPr/>
        </p:nvSpPr>
        <p:spPr>
          <a:xfrm>
            <a:off x="1720500" y="1409230"/>
            <a:ext cx="864096" cy="360039"/>
          </a:xfrm>
          <a:prstGeom prst="roundRect">
            <a:avLst/>
          </a:prstGeom>
          <a:solidFill>
            <a:srgbClr val="FAC8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CO2 emissions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34F6988-4FE6-E1CA-0BD5-AF83E6B7964E}"/>
              </a:ext>
            </a:extLst>
          </p:cNvPr>
          <p:cNvSpPr/>
          <p:nvPr/>
        </p:nvSpPr>
        <p:spPr>
          <a:xfrm>
            <a:off x="2855992" y="1397418"/>
            <a:ext cx="864096" cy="360039"/>
          </a:xfrm>
          <a:prstGeom prst="roundRect">
            <a:avLst/>
          </a:prstGeom>
          <a:solidFill>
            <a:srgbClr val="FAC8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Usable Energy </a:t>
            </a:r>
          </a:p>
        </p:txBody>
      </p:sp>
      <p:sp>
        <p:nvSpPr>
          <p:cNvPr id="54" name="Abgerundetes Rechteck 53">
            <a:extLst>
              <a:ext uri="{FF2B5EF4-FFF2-40B4-BE49-F238E27FC236}">
                <a16:creationId xmlns:a16="http://schemas.microsoft.com/office/drawing/2014/main" id="{7816351C-576C-9A66-E6B4-48C97E24AC4A}"/>
              </a:ext>
            </a:extLst>
          </p:cNvPr>
          <p:cNvSpPr/>
          <p:nvPr/>
        </p:nvSpPr>
        <p:spPr>
          <a:xfrm>
            <a:off x="2950602" y="3368167"/>
            <a:ext cx="792088" cy="309846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Amortisation</a:t>
            </a:r>
          </a:p>
        </p:txBody>
      </p:sp>
      <p:sp>
        <p:nvSpPr>
          <p:cNvPr id="96" name="Abgerundetes Rechteck 95">
            <a:extLst>
              <a:ext uri="{FF2B5EF4-FFF2-40B4-BE49-F238E27FC236}">
                <a16:creationId xmlns:a16="http://schemas.microsoft.com/office/drawing/2014/main" id="{567EBDF1-F9E1-5371-44D5-38279F9BC57B}"/>
              </a:ext>
            </a:extLst>
          </p:cNvPr>
          <p:cNvSpPr/>
          <p:nvPr/>
        </p:nvSpPr>
        <p:spPr>
          <a:xfrm>
            <a:off x="1631856" y="1131304"/>
            <a:ext cx="4200144" cy="720000"/>
          </a:xfrm>
          <a:prstGeom prst="roundRect">
            <a:avLst>
              <a:gd name="adj" fmla="val 1131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27AFDFCD-0AD4-A60C-2DE4-786E583BABA4}"/>
              </a:ext>
            </a:extLst>
          </p:cNvPr>
          <p:cNvSpPr txBox="1"/>
          <p:nvPr/>
        </p:nvSpPr>
        <p:spPr>
          <a:xfrm>
            <a:off x="1591526" y="1133009"/>
            <a:ext cx="23445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/>
              <a:t>Environmental Model Inputs and Results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1B38490-603C-D7B4-F2EE-4243E341995C}"/>
              </a:ext>
            </a:extLst>
          </p:cNvPr>
          <p:cNvSpPr/>
          <p:nvPr/>
        </p:nvSpPr>
        <p:spPr>
          <a:xfrm>
            <a:off x="173207" y="2136997"/>
            <a:ext cx="1238250" cy="2111351"/>
          </a:xfrm>
          <a:prstGeom prst="roundRect">
            <a:avLst>
              <a:gd name="adj" fmla="val 33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B7CF3F22-678A-098F-8C39-30A10E18CBBD}"/>
              </a:ext>
            </a:extLst>
          </p:cNvPr>
          <p:cNvSpPr/>
          <p:nvPr/>
        </p:nvSpPr>
        <p:spPr>
          <a:xfrm>
            <a:off x="412345" y="3411697"/>
            <a:ext cx="720082" cy="21869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Country</a:t>
            </a:r>
            <a:endParaRPr lang="de-DE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BEE74A28-8E28-023C-FF5B-4D9398A3A40C}"/>
              </a:ext>
            </a:extLst>
          </p:cNvPr>
          <p:cNvSpPr/>
          <p:nvPr/>
        </p:nvSpPr>
        <p:spPr>
          <a:xfrm>
            <a:off x="409427" y="2962439"/>
            <a:ext cx="720082" cy="21869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Energy </a:t>
            </a:r>
            <a:r>
              <a:rPr lang="de-DE" sz="7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price</a:t>
            </a:r>
            <a:endParaRPr lang="de-DE" sz="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3D41F083-A5F0-CBAE-8264-650F1BB9BE09}"/>
              </a:ext>
            </a:extLst>
          </p:cNvPr>
          <p:cNvSpPr/>
          <p:nvPr/>
        </p:nvSpPr>
        <p:spPr>
          <a:xfrm>
            <a:off x="4053333" y="1396190"/>
            <a:ext cx="864096" cy="360039"/>
          </a:xfrm>
          <a:prstGeom prst="roundRect">
            <a:avLst/>
          </a:prstGeom>
          <a:solidFill>
            <a:srgbClr val="FAC8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horizon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49B18125-9B59-13F5-6813-15BBA6445641}"/>
              </a:ext>
            </a:extLst>
          </p:cNvPr>
          <p:cNvSpPr/>
          <p:nvPr/>
        </p:nvSpPr>
        <p:spPr>
          <a:xfrm>
            <a:off x="4077373" y="2911358"/>
            <a:ext cx="603947" cy="309846"/>
          </a:xfrm>
          <a:prstGeom prst="roundRect">
            <a:avLst>
              <a:gd name="adj" fmla="val 9750"/>
            </a:avLst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Turnover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2689E99-8852-3B9D-D0C7-911CC8DDC053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1129509" y="3066281"/>
            <a:ext cx="2947864" cy="55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D856519F-DB3D-8941-FF70-27D3AAFE8CA4}"/>
              </a:ext>
            </a:extLst>
          </p:cNvPr>
          <p:cNvSpPr/>
          <p:nvPr/>
        </p:nvSpPr>
        <p:spPr>
          <a:xfrm>
            <a:off x="423041" y="2552659"/>
            <a:ext cx="720082" cy="28922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CO2 </a:t>
            </a:r>
            <a:r>
              <a:rPr lang="de-DE" sz="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price</a:t>
            </a:r>
            <a:r>
              <a:rPr lang="de-DE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</a:t>
            </a:r>
            <a:r>
              <a:rPr lang="de-DE" sz="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r>
              <a:rPr lang="de-DE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de-DE" sz="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r>
              <a:rPr lang="de-DE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42" name="Abgerundetes Rechteck 41">
            <a:extLst>
              <a:ext uri="{FF2B5EF4-FFF2-40B4-BE49-F238E27FC236}">
                <a16:creationId xmlns:a16="http://schemas.microsoft.com/office/drawing/2014/main" id="{E6F6C7C3-68AC-F191-F7AB-8A4A5EA38046}"/>
              </a:ext>
            </a:extLst>
          </p:cNvPr>
          <p:cNvSpPr/>
          <p:nvPr/>
        </p:nvSpPr>
        <p:spPr>
          <a:xfrm>
            <a:off x="1756504" y="2592112"/>
            <a:ext cx="792088" cy="199747"/>
          </a:xfrm>
          <a:prstGeom prst="roundRect">
            <a:avLst>
              <a:gd name="adj" fmla="val 9750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Co2 price</a:t>
            </a:r>
          </a:p>
        </p:txBody>
      </p:sp>
      <p:sp>
        <p:nvSpPr>
          <p:cNvPr id="50" name="Abgerundetes Rechteck 49">
            <a:extLst>
              <a:ext uri="{FF2B5EF4-FFF2-40B4-BE49-F238E27FC236}">
                <a16:creationId xmlns:a16="http://schemas.microsoft.com/office/drawing/2014/main" id="{91236E04-3CCB-0A74-4762-5650046C1D8F}"/>
              </a:ext>
            </a:extLst>
          </p:cNvPr>
          <p:cNvSpPr/>
          <p:nvPr/>
        </p:nvSpPr>
        <p:spPr>
          <a:xfrm>
            <a:off x="1756504" y="2193916"/>
            <a:ext cx="792088" cy="254284"/>
          </a:xfrm>
          <a:prstGeom prst="roundRect">
            <a:avLst>
              <a:gd name="adj" fmla="val 9750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CO2 savings to baseline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BC82DC98-426B-1344-7D1E-4CCCC416BA81}"/>
              </a:ext>
            </a:extLst>
          </p:cNvPr>
          <p:cNvCxnSpPr>
            <a:cxnSpLocks/>
            <a:stCxn id="6" idx="2"/>
            <a:endCxn id="50" idx="0"/>
          </p:cNvCxnSpPr>
          <p:nvPr/>
        </p:nvCxnSpPr>
        <p:spPr>
          <a:xfrm>
            <a:off x="2152548" y="1769269"/>
            <a:ext cx="0" cy="4246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C560DE4B-73B3-F2DB-27A3-37B2E5607C5E}"/>
              </a:ext>
            </a:extLst>
          </p:cNvPr>
          <p:cNvCxnSpPr>
            <a:cxnSpLocks/>
            <a:stCxn id="50" idx="2"/>
            <a:endCxn id="42" idx="0"/>
          </p:cNvCxnSpPr>
          <p:nvPr/>
        </p:nvCxnSpPr>
        <p:spPr>
          <a:xfrm>
            <a:off x="2152548" y="2448200"/>
            <a:ext cx="0" cy="143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winkelte Verbindung 63">
            <a:extLst>
              <a:ext uri="{FF2B5EF4-FFF2-40B4-BE49-F238E27FC236}">
                <a16:creationId xmlns:a16="http://schemas.microsoft.com/office/drawing/2014/main" id="{52FE2495-A181-D423-39EF-57D84FE4E2D8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021190" y="1923217"/>
            <a:ext cx="187540" cy="19248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Abgerundetes Rechteck 65">
            <a:extLst>
              <a:ext uri="{FF2B5EF4-FFF2-40B4-BE49-F238E27FC236}">
                <a16:creationId xmlns:a16="http://schemas.microsoft.com/office/drawing/2014/main" id="{940F1D85-45C7-FDF2-7B82-4CADFD8844DA}"/>
              </a:ext>
            </a:extLst>
          </p:cNvPr>
          <p:cNvSpPr/>
          <p:nvPr/>
        </p:nvSpPr>
        <p:spPr>
          <a:xfrm>
            <a:off x="4044328" y="2154654"/>
            <a:ext cx="670035" cy="309846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Operating costs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7B6D926-ADCC-7699-23DC-DE8459FE27BF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4379345" y="1769269"/>
            <a:ext cx="1" cy="385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winkelte Verbindung 80">
            <a:extLst>
              <a:ext uri="{FF2B5EF4-FFF2-40B4-BE49-F238E27FC236}">
                <a16:creationId xmlns:a16="http://schemas.microsoft.com/office/drawing/2014/main" id="{0E273AC4-EA70-B2A4-41B9-8268D9278C88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2990078" y="2055419"/>
            <a:ext cx="1389904" cy="793980"/>
          </a:xfrm>
          <a:prstGeom prst="bentConnector3">
            <a:avLst>
              <a:gd name="adj1" fmla="val 1002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B477C7B7-7E8F-AC30-850F-FEA665BF9E25}"/>
              </a:ext>
            </a:extLst>
          </p:cNvPr>
          <p:cNvCxnSpPr>
            <a:cxnSpLocks/>
          </p:cNvCxnSpPr>
          <p:nvPr/>
        </p:nvCxnSpPr>
        <p:spPr>
          <a:xfrm>
            <a:off x="4379345" y="2467969"/>
            <a:ext cx="0" cy="439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Abgerundetes Rechteck 103">
            <a:extLst>
              <a:ext uri="{FF2B5EF4-FFF2-40B4-BE49-F238E27FC236}">
                <a16:creationId xmlns:a16="http://schemas.microsoft.com/office/drawing/2014/main" id="{A721E06B-D13C-871B-29D9-0EF186743279}"/>
              </a:ext>
            </a:extLst>
          </p:cNvPr>
          <p:cNvSpPr/>
          <p:nvPr/>
        </p:nvSpPr>
        <p:spPr>
          <a:xfrm>
            <a:off x="2950602" y="3823246"/>
            <a:ext cx="792088" cy="309846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Machine Investment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324DB90D-48B2-7C5B-0861-00593C4BC86A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1132427" y="3521045"/>
            <a:ext cx="1818175" cy="2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C6E0633E-814C-AE8C-E1B8-874C819C3177}"/>
              </a:ext>
            </a:extLst>
          </p:cNvPr>
          <p:cNvCxnSpPr>
            <a:cxnSpLocks/>
            <a:stCxn id="104" idx="0"/>
            <a:endCxn id="54" idx="2"/>
          </p:cNvCxnSpPr>
          <p:nvPr/>
        </p:nvCxnSpPr>
        <p:spPr>
          <a:xfrm flipV="1">
            <a:off x="3346646" y="3678013"/>
            <a:ext cx="0" cy="145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Abgerundetes Rechteck 115">
            <a:extLst>
              <a:ext uri="{FF2B5EF4-FFF2-40B4-BE49-F238E27FC236}">
                <a16:creationId xmlns:a16="http://schemas.microsoft.com/office/drawing/2014/main" id="{4C989AD3-3543-8FAE-4C68-55F6CE659754}"/>
              </a:ext>
            </a:extLst>
          </p:cNvPr>
          <p:cNvSpPr/>
          <p:nvPr/>
        </p:nvSpPr>
        <p:spPr>
          <a:xfrm>
            <a:off x="5094293" y="2908133"/>
            <a:ext cx="643971" cy="309846"/>
          </a:xfrm>
          <a:prstGeom prst="roundRect">
            <a:avLst>
              <a:gd name="adj" fmla="val 975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b="1" dirty="0">
                <a:solidFill>
                  <a:sysClr val="windowText" lastClr="000000"/>
                </a:solidFill>
              </a:rPr>
              <a:t>Profit after tax</a:t>
            </a:r>
          </a:p>
        </p:txBody>
      </p:sp>
      <p:pic>
        <p:nvPicPr>
          <p:cNvPr id="119" name="Grafik 118">
            <a:extLst>
              <a:ext uri="{FF2B5EF4-FFF2-40B4-BE49-F238E27FC236}">
                <a16:creationId xmlns:a16="http://schemas.microsoft.com/office/drawing/2014/main" id="{19246857-677E-A792-6308-4A38B95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502" y="2703056"/>
            <a:ext cx="2730779" cy="7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4" name="Abgerundetes Rechteck 123">
            <a:extLst>
              <a:ext uri="{FF2B5EF4-FFF2-40B4-BE49-F238E27FC236}">
                <a16:creationId xmlns:a16="http://schemas.microsoft.com/office/drawing/2014/main" id="{DDDE902E-8E23-684D-6E54-48351AD9976B}"/>
              </a:ext>
            </a:extLst>
          </p:cNvPr>
          <p:cNvSpPr/>
          <p:nvPr/>
        </p:nvSpPr>
        <p:spPr>
          <a:xfrm>
            <a:off x="1627148" y="2009671"/>
            <a:ext cx="4204852" cy="2233393"/>
          </a:xfrm>
          <a:prstGeom prst="roundRect">
            <a:avLst>
              <a:gd name="adj" fmla="val 33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8014C5E1-79D6-A9D2-4C8D-0F3823F6C32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 flipV="1">
            <a:off x="1143123" y="2691986"/>
            <a:ext cx="613381" cy="5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winkelte Verbindung 147">
            <a:extLst>
              <a:ext uri="{FF2B5EF4-FFF2-40B4-BE49-F238E27FC236}">
                <a16:creationId xmlns:a16="http://schemas.microsoft.com/office/drawing/2014/main" id="{75306E5F-CF08-2FBB-3C7C-EEA9AE3A5A3B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3742690" y="3174263"/>
            <a:ext cx="3451436" cy="803906"/>
          </a:xfrm>
          <a:prstGeom prst="bentConnector3">
            <a:avLst>
              <a:gd name="adj1" fmla="val 10008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Gewinkelte Verbindung 162">
            <a:extLst>
              <a:ext uri="{FF2B5EF4-FFF2-40B4-BE49-F238E27FC236}">
                <a16:creationId xmlns:a16="http://schemas.microsoft.com/office/drawing/2014/main" id="{3F954057-677D-9498-4DB9-6696F52CD3C7}"/>
              </a:ext>
            </a:extLst>
          </p:cNvPr>
          <p:cNvCxnSpPr>
            <a:cxnSpLocks/>
          </p:cNvCxnSpPr>
          <p:nvPr/>
        </p:nvCxnSpPr>
        <p:spPr>
          <a:xfrm>
            <a:off x="6804025" y="2467144"/>
            <a:ext cx="1367975" cy="374737"/>
          </a:xfrm>
          <a:prstGeom prst="bentConnector3">
            <a:avLst>
              <a:gd name="adj1" fmla="val 999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Gewinkelte Verbindung 165">
            <a:extLst>
              <a:ext uri="{FF2B5EF4-FFF2-40B4-BE49-F238E27FC236}">
                <a16:creationId xmlns:a16="http://schemas.microsoft.com/office/drawing/2014/main" id="{D7119BBA-5382-D500-9AE1-B1C7B34F491C}"/>
              </a:ext>
            </a:extLst>
          </p:cNvPr>
          <p:cNvCxnSpPr>
            <a:cxnSpLocks/>
            <a:stCxn id="116" idx="0"/>
          </p:cNvCxnSpPr>
          <p:nvPr/>
        </p:nvCxnSpPr>
        <p:spPr>
          <a:xfrm rot="5400000" flipH="1" flipV="1">
            <a:off x="5889658" y="1993766"/>
            <a:ext cx="440988" cy="138774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Gewinkelte Verbindung 170">
            <a:extLst>
              <a:ext uri="{FF2B5EF4-FFF2-40B4-BE49-F238E27FC236}">
                <a16:creationId xmlns:a16="http://schemas.microsoft.com/office/drawing/2014/main" id="{174592F9-C221-23F8-9114-09C7CFE44AFA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917429" y="1576210"/>
            <a:ext cx="3542780" cy="1403189"/>
          </a:xfrm>
          <a:prstGeom prst="bentConnector3">
            <a:avLst>
              <a:gd name="adj1" fmla="val 10106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Textfeld 180">
            <a:extLst>
              <a:ext uri="{FF2B5EF4-FFF2-40B4-BE49-F238E27FC236}">
                <a16:creationId xmlns:a16="http://schemas.microsoft.com/office/drawing/2014/main" id="{81E99F16-F62E-9D6D-6CEA-864BC168EA7E}"/>
              </a:ext>
            </a:extLst>
          </p:cNvPr>
          <p:cNvSpPr txBox="1"/>
          <p:nvPr/>
        </p:nvSpPr>
        <p:spPr>
          <a:xfrm>
            <a:off x="6515816" y="2304712"/>
            <a:ext cx="5966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Cash flow</a:t>
            </a:r>
          </a:p>
        </p:txBody>
      </p:sp>
      <p:sp>
        <p:nvSpPr>
          <p:cNvPr id="182" name="Textfeld 181">
            <a:extLst>
              <a:ext uri="{FF2B5EF4-FFF2-40B4-BE49-F238E27FC236}">
                <a16:creationId xmlns:a16="http://schemas.microsoft.com/office/drawing/2014/main" id="{34A6C5B9-0321-DD10-DA04-D23A5B416DAD}"/>
              </a:ext>
            </a:extLst>
          </p:cNvPr>
          <p:cNvSpPr txBox="1"/>
          <p:nvPr/>
        </p:nvSpPr>
        <p:spPr>
          <a:xfrm>
            <a:off x="6426143" y="1409230"/>
            <a:ext cx="2087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 err="1"/>
              <a:t>i</a:t>
            </a:r>
            <a:endParaRPr lang="en-GB" sz="800" dirty="0"/>
          </a:p>
        </p:txBody>
      </p:sp>
      <p:sp>
        <p:nvSpPr>
          <p:cNvPr id="183" name="Textfeld 182">
            <a:extLst>
              <a:ext uri="{FF2B5EF4-FFF2-40B4-BE49-F238E27FC236}">
                <a16:creationId xmlns:a16="http://schemas.microsoft.com/office/drawing/2014/main" id="{14918F49-A997-DBC3-15EF-D97F733C4652}"/>
              </a:ext>
            </a:extLst>
          </p:cNvPr>
          <p:cNvSpPr txBox="1"/>
          <p:nvPr/>
        </p:nvSpPr>
        <p:spPr>
          <a:xfrm>
            <a:off x="6157483" y="3801908"/>
            <a:ext cx="6655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investment</a:t>
            </a:r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C14D9BB1-1365-8D5E-5C58-E0A3D94FBCDB}"/>
              </a:ext>
            </a:extLst>
          </p:cNvPr>
          <p:cNvSpPr txBox="1"/>
          <p:nvPr/>
        </p:nvSpPr>
        <p:spPr>
          <a:xfrm>
            <a:off x="142462" y="2139596"/>
            <a:ext cx="9870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/>
              <a:t>Input</a:t>
            </a:r>
          </a:p>
        </p:txBody>
      </p:sp>
      <p:sp>
        <p:nvSpPr>
          <p:cNvPr id="190" name="Abgerundetes Rechteck 189">
            <a:extLst>
              <a:ext uri="{FF2B5EF4-FFF2-40B4-BE49-F238E27FC236}">
                <a16:creationId xmlns:a16="http://schemas.microsoft.com/office/drawing/2014/main" id="{1C4793A5-4C0B-A2FB-E59F-A28C3F54207E}"/>
              </a:ext>
            </a:extLst>
          </p:cNvPr>
          <p:cNvSpPr/>
          <p:nvPr/>
        </p:nvSpPr>
        <p:spPr>
          <a:xfrm>
            <a:off x="6013923" y="2007380"/>
            <a:ext cx="2893222" cy="2228963"/>
          </a:xfrm>
          <a:prstGeom prst="roundRect">
            <a:avLst>
              <a:gd name="adj" fmla="val 337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1" name="Textfeld 190">
            <a:extLst>
              <a:ext uri="{FF2B5EF4-FFF2-40B4-BE49-F238E27FC236}">
                <a16:creationId xmlns:a16="http://schemas.microsoft.com/office/drawing/2014/main" id="{F291D0B4-C93A-1CF8-9002-A6B29D02DB52}"/>
              </a:ext>
            </a:extLst>
          </p:cNvPr>
          <p:cNvSpPr txBox="1"/>
          <p:nvPr/>
        </p:nvSpPr>
        <p:spPr>
          <a:xfrm>
            <a:off x="5991772" y="1999258"/>
            <a:ext cx="23445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/>
              <a:t>Result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60F4D7B8-FB3C-0E14-7443-605BB75F8755}"/>
              </a:ext>
            </a:extLst>
          </p:cNvPr>
          <p:cNvSpPr txBox="1"/>
          <p:nvPr/>
        </p:nvSpPr>
        <p:spPr>
          <a:xfrm>
            <a:off x="1646613" y="4065407"/>
            <a:ext cx="23445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/>
              <a:t>Model parameters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DBCC1343-447B-6C1B-63D9-848D0E5C8421}"/>
              </a:ext>
            </a:extLst>
          </p:cNvPr>
          <p:cNvSpPr/>
          <p:nvPr/>
        </p:nvSpPr>
        <p:spPr>
          <a:xfrm>
            <a:off x="4077496" y="3366122"/>
            <a:ext cx="603947" cy="309846"/>
          </a:xfrm>
          <a:prstGeom prst="roundRect">
            <a:avLst>
              <a:gd name="adj" fmla="val 9750"/>
            </a:avLst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Profit </a:t>
            </a:r>
            <a:r>
              <a:rPr lang="en-AU" sz="800" dirty="0" err="1">
                <a:solidFill>
                  <a:sysClr val="windowText" lastClr="000000"/>
                </a:solidFill>
              </a:rPr>
              <a:t>befor</a:t>
            </a:r>
            <a:r>
              <a:rPr lang="en-AU" sz="800" dirty="0">
                <a:solidFill>
                  <a:sysClr val="windowText" lastClr="000000"/>
                </a:solidFill>
              </a:rPr>
              <a:t> tax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F64BE30-DD04-B6A5-2030-5BBD42176F4F}"/>
              </a:ext>
            </a:extLst>
          </p:cNvPr>
          <p:cNvCxnSpPr>
            <a:cxnSpLocks/>
            <a:stCxn id="27" idx="2"/>
            <a:endCxn id="15" idx="0"/>
          </p:cNvCxnSpPr>
          <p:nvPr/>
        </p:nvCxnSpPr>
        <p:spPr>
          <a:xfrm>
            <a:off x="4379347" y="3221204"/>
            <a:ext cx="123" cy="144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CBFE65C2-EBB0-E947-001C-673D0246C487}"/>
              </a:ext>
            </a:extLst>
          </p:cNvPr>
          <p:cNvSpPr/>
          <p:nvPr/>
        </p:nvSpPr>
        <p:spPr>
          <a:xfrm>
            <a:off x="5092477" y="3358467"/>
            <a:ext cx="532671" cy="309846"/>
          </a:xfrm>
          <a:prstGeom prst="roundRect">
            <a:avLst>
              <a:gd name="adj" fmla="val 9750"/>
            </a:avLst>
          </a:prstGeom>
          <a:solidFill>
            <a:srgbClr val="D07107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dirty="0">
                <a:solidFill>
                  <a:sysClr val="windowText" lastClr="000000"/>
                </a:solidFill>
              </a:rPr>
              <a:t>taxes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9C7B8C1-8421-8A04-91BB-A5798C1B7CD8}"/>
              </a:ext>
            </a:extLst>
          </p:cNvPr>
          <p:cNvCxnSpPr>
            <a:stCxn id="54" idx="3"/>
            <a:endCxn id="15" idx="1"/>
          </p:cNvCxnSpPr>
          <p:nvPr/>
        </p:nvCxnSpPr>
        <p:spPr>
          <a:xfrm flipV="1">
            <a:off x="3742690" y="3521045"/>
            <a:ext cx="334806" cy="2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B5BE835-3D46-C899-DFE9-BEDF3C7BE7D7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 flipV="1">
            <a:off x="4681443" y="3513390"/>
            <a:ext cx="411034" cy="7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BCF77C73-447A-B62E-7218-657D8F5B5E02}"/>
              </a:ext>
            </a:extLst>
          </p:cNvPr>
          <p:cNvCxnSpPr>
            <a:cxnSpLocks/>
          </p:cNvCxnSpPr>
          <p:nvPr/>
        </p:nvCxnSpPr>
        <p:spPr>
          <a:xfrm flipV="1">
            <a:off x="5358812" y="3213234"/>
            <a:ext cx="0" cy="145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>
            <a:extLst>
              <a:ext uri="{FF2B5EF4-FFF2-40B4-BE49-F238E27FC236}">
                <a16:creationId xmlns:a16="http://schemas.microsoft.com/office/drawing/2014/main" id="{F8D7E4CA-41D0-1B6A-1278-BD3BC6A5FE24}"/>
              </a:ext>
            </a:extLst>
          </p:cNvPr>
          <p:cNvCxnSpPr>
            <a:cxnSpLocks/>
            <a:stCxn id="22" idx="2"/>
            <a:endCxn id="28" idx="2"/>
          </p:cNvCxnSpPr>
          <p:nvPr/>
        </p:nvCxnSpPr>
        <p:spPr>
          <a:xfrm rot="16200000" flipH="1">
            <a:off x="3046639" y="1356139"/>
            <a:ext cx="37920" cy="4586427"/>
          </a:xfrm>
          <a:prstGeom prst="bentConnector3">
            <a:avLst>
              <a:gd name="adj1" fmla="val 1870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6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Economic model – calculation method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9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871C5C-A0D4-2396-7227-BD2CFEBF51AC}"/>
              </a:ext>
            </a:extLst>
          </p:cNvPr>
          <p:cNvSpPr txBox="1"/>
          <p:nvPr/>
        </p:nvSpPr>
        <p:spPr>
          <a:xfrm>
            <a:off x="397270" y="1440036"/>
            <a:ext cx="8350971" cy="2951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aim</a:t>
            </a:r>
            <a:r>
              <a:rPr lang="en-GB" dirty="0"/>
              <a:t> of the economic model is to calculate the </a:t>
            </a:r>
            <a:r>
              <a:rPr lang="en-GB" b="1" dirty="0"/>
              <a:t>NVP </a:t>
            </a:r>
            <a:r>
              <a:rPr lang="en-GB" dirty="0"/>
              <a:t>(Net present Value)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b="1" dirty="0"/>
              <a:t>Input Parameters</a:t>
            </a:r>
          </a:p>
          <a:p>
            <a:pPr marL="622684" lvl="1" indent="-285750">
              <a:buFont typeface="Arial" panose="020B0604020202020204" pitchFamily="34" charset="0"/>
              <a:buChar char="•"/>
            </a:pPr>
            <a:r>
              <a:rPr lang="en-GB" dirty="0"/>
              <a:t>The model uses two Input sources:</a:t>
            </a:r>
            <a:endParaRPr lang="en-GB" b="1" dirty="0"/>
          </a:p>
          <a:p>
            <a:pPr marL="1016767" lvl="2" indent="-342900">
              <a:buFont typeface="+mj-lt"/>
              <a:buAutoNum type="arabicPeriod"/>
            </a:pPr>
            <a:r>
              <a:rPr lang="en-GB" dirty="0"/>
              <a:t>The results of the environmental model for energy production and CO2 compensation (compared to baseline) as well as the input for the time horizon</a:t>
            </a:r>
          </a:p>
          <a:p>
            <a:pPr marL="1016767" lvl="2" indent="-342900">
              <a:buFont typeface="+mj-lt"/>
              <a:buAutoNum type="arabicPeriod"/>
            </a:pPr>
            <a:r>
              <a:rPr lang="en-GB" dirty="0"/>
              <a:t>Extra inputs that the user can define: Energy price and country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Model Parameters</a:t>
            </a:r>
          </a:p>
          <a:p>
            <a:pPr marL="679834" lvl="1" indent="-34290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turnover</a:t>
            </a:r>
            <a:r>
              <a:rPr lang="en-GB" dirty="0"/>
              <a:t> is calculated based on the income from energy and CO2 and the operating costs</a:t>
            </a:r>
          </a:p>
          <a:p>
            <a:pPr marL="679834" lvl="1" indent="-34290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profit</a:t>
            </a:r>
            <a:r>
              <a:rPr lang="en-GB" dirty="0"/>
              <a:t> is calculated based on the turnover and the amortisation rate (country specific)</a:t>
            </a:r>
          </a:p>
          <a:p>
            <a:pPr marL="679834" lvl="1" indent="-34290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investment </a:t>
            </a:r>
            <a:r>
              <a:rPr lang="en-GB" dirty="0"/>
              <a:t>costs are based on the investment for the machine</a:t>
            </a:r>
          </a:p>
          <a:p>
            <a:pPr marL="679834" lvl="1" indent="-342900">
              <a:buFont typeface="Arial" panose="020B0604020202020204" pitchFamily="34" charset="0"/>
              <a:buChar char="•"/>
            </a:pPr>
            <a:r>
              <a:rPr lang="en-GB" dirty="0"/>
              <a:t>The period </a:t>
            </a:r>
            <a:r>
              <a:rPr lang="en-GB" b="1" dirty="0" err="1"/>
              <a:t>i</a:t>
            </a:r>
            <a:r>
              <a:rPr lang="en-GB" b="1" dirty="0"/>
              <a:t> </a:t>
            </a:r>
            <a:r>
              <a:rPr lang="en-GB" dirty="0"/>
              <a:t>in the NVP formula is directly defined by the time horizon defined as input parameter</a:t>
            </a:r>
          </a:p>
          <a:p>
            <a:pPr marL="679834" lvl="1" indent="-342900">
              <a:buFont typeface="Arial" panose="020B0604020202020204" pitchFamily="34" charset="0"/>
              <a:buChar char="•"/>
            </a:pPr>
            <a:r>
              <a:rPr lang="en-GB" dirty="0"/>
              <a:t>The Calculation </a:t>
            </a:r>
            <a:r>
              <a:rPr lang="en-GB" dirty="0" err="1"/>
              <a:t>interes</a:t>
            </a:r>
            <a:r>
              <a:rPr lang="en-GB" dirty="0"/>
              <a:t> rate </a:t>
            </a:r>
            <a:r>
              <a:rPr lang="en-GB" b="1" dirty="0"/>
              <a:t>r </a:t>
            </a:r>
            <a:r>
              <a:rPr lang="en-GB" dirty="0"/>
              <a:t>has to be predefined (</a:t>
            </a:r>
            <a:r>
              <a:rPr lang="en-GB" i="1" dirty="0"/>
              <a:t>could also be Input parameter)</a:t>
            </a:r>
            <a:endParaRPr lang="en-GB" dirty="0"/>
          </a:p>
          <a:p>
            <a:pPr marL="622684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41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Questions to the </a:t>
            </a:r>
            <a:r>
              <a:rPr lang="en-US" dirty="0" err="1"/>
              <a:t>Econimical</a:t>
            </a:r>
            <a:r>
              <a:rPr lang="en-US" dirty="0"/>
              <a:t> model concept?</a:t>
            </a:r>
            <a:endParaRPr lang="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/>
              <a:t>insert footer text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pl-PL" smtClean="0"/>
              <a:pPr/>
              <a:t>10</a:t>
            </a:fld>
            <a:endParaRPr lang="pl-PL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BBCC49-8C4C-4893-5390-575AD53B939E}"/>
              </a:ext>
            </a:extLst>
          </p:cNvPr>
          <p:cNvSpPr txBox="1">
            <a:spLocks/>
          </p:cNvSpPr>
          <p:nvPr/>
        </p:nvSpPr>
        <p:spPr>
          <a:xfrm>
            <a:off x="529135" y="1241832"/>
            <a:ext cx="6480000" cy="30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7201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2400" kern="1200" cap="none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36008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72015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17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8023" indent="0" algn="l" defTabSz="672015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031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680039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016046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2352054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2688062" indent="0" algn="l" defTabSz="672015" rtl="0" eaLnBrk="1" latinLnBrk="0" hangingPunct="1">
              <a:lnSpc>
                <a:spcPct val="90000"/>
              </a:lnSpc>
              <a:spcBef>
                <a:spcPts val="588"/>
              </a:spcBef>
              <a:buSzPct val="80000"/>
              <a:buFont typeface="Wingdings" pitchFamily="2" charset="2"/>
              <a:buNone/>
              <a:defRPr sz="1029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EAD77A-E5FC-442F-2E6E-B2C5D7D6F8E1}"/>
              </a:ext>
            </a:extLst>
          </p:cNvPr>
          <p:cNvSpPr txBox="1"/>
          <p:nvPr/>
        </p:nvSpPr>
        <p:spPr>
          <a:xfrm>
            <a:off x="327437" y="1093814"/>
            <a:ext cx="8352928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Please note your remarks and questions:</a:t>
            </a:r>
          </a:p>
          <a:p>
            <a:pPr algn="ctr"/>
            <a:endParaRPr lang="en-GB" sz="1600" b="1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recommend to consider other </a:t>
            </a:r>
            <a:r>
              <a:rPr lang="en-GB" sz="1200" b="1" dirty="0"/>
              <a:t>input parameters </a:t>
            </a:r>
            <a:r>
              <a:rPr lang="en-GB" sz="1200" dirty="0"/>
              <a:t>than the previously mentioned ones?</a:t>
            </a:r>
          </a:p>
          <a:p>
            <a:pPr marL="508384" lvl="1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E.g. more adjustable parameters to characterize amortisation, calculation interest rate, etc.?</a:t>
            </a:r>
          </a:p>
          <a:p>
            <a:pPr lvl="1"/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think the calculation method is consistent?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 you have any recommendations for result parameters?</a:t>
            </a:r>
          </a:p>
          <a:p>
            <a:pPr marL="508384" lvl="1" indent="-17145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economical variables than the NVP?</a:t>
            </a:r>
            <a:endParaRPr lang="en-GB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8A796D1-0499-32A3-2703-5E990163FA70}"/>
              </a:ext>
            </a:extLst>
          </p:cNvPr>
          <p:cNvSpPr txBox="1"/>
          <p:nvPr/>
        </p:nvSpPr>
        <p:spPr>
          <a:xfrm>
            <a:off x="323305" y="3023606"/>
            <a:ext cx="8003082" cy="50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Your remarks: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912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ymbol zastępczy tekstu 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The works was co-financed under the </a:t>
            </a:r>
            <a:r>
              <a:rPr lang="en-US" dirty="0" err="1"/>
              <a:t>Interreg</a:t>
            </a:r>
            <a:r>
              <a:rPr lang="en-US" dirty="0"/>
              <a:t> South Baltic </a:t>
            </a:r>
            <a:r>
              <a:rPr lang="en-US" dirty="0" err="1"/>
              <a:t>Programme</a:t>
            </a:r>
            <a:r>
              <a:rPr lang="pl-PL" dirty="0"/>
              <a:t> </a:t>
            </a:r>
            <a:r>
              <a:rPr lang="en-US" dirty="0"/>
              <a:t>2021 – 2027</a:t>
            </a:r>
            <a:br>
              <a:rPr lang="pl-PL" dirty="0"/>
            </a:br>
            <a:r>
              <a:rPr lang="en-US" dirty="0"/>
              <a:t>in the Low Calorific Gas for Green Power Production project,</a:t>
            </a:r>
            <a:br>
              <a:rPr lang="pl-PL" dirty="0"/>
            </a:br>
            <a:r>
              <a:rPr lang="en-US" dirty="0"/>
              <a:t>project number: STHB.02.01-IP.01-0011/23, https://locagas.eu</a:t>
            </a:r>
            <a:endParaRPr lang="pl-PL" dirty="0"/>
          </a:p>
        </p:txBody>
      </p:sp>
      <p:sp>
        <p:nvSpPr>
          <p:cNvPr id="11" name="Symbol zastępczy tekstu 10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GB" dirty="0"/>
              <a:t>Do you have any question</a:t>
            </a:r>
            <a:r>
              <a:rPr lang="pl-PL" dirty="0"/>
              <a:t>?</a:t>
            </a:r>
          </a:p>
        </p:txBody>
      </p:sp>
      <p:sp>
        <p:nvSpPr>
          <p:cNvPr id="9" name="Tytuł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 YOU  FOR   ATTENTION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0438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iebieski projekt z paskami 16:9">
  <a:themeElements>
    <a:clrScheme name="LoCaGas#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1" id="{83967F48-8D8E-46A1-AC1F-1C95661B1DD0}" vid="{713B0835-C33D-4778-9F20-9162A28C7812}"/>
    </a:ext>
  </a:extLst>
</a:theme>
</file>

<file path=ppt/theme/theme2.xml><?xml version="1.0" encoding="utf-8"?>
<a:theme xmlns:a="http://schemas.openxmlformats.org/drawingml/2006/main" name="Motyw pakietu Offic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Niebieski projekt z paskami 16:9</Template>
  <TotalTime>0</TotalTime>
  <Words>1180</Words>
  <Application>Microsoft Macintosh PowerPoint</Application>
  <PresentationFormat>Benutzerdefiniert</PresentationFormat>
  <Paragraphs>181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Corbel</vt:lpstr>
      <vt:lpstr>Euphemia</vt:lpstr>
      <vt:lpstr>Wingdings</vt:lpstr>
      <vt:lpstr>Niebieski projekt z paskami 16:9</vt:lpstr>
      <vt:lpstr>LCA Decision Tool</vt:lpstr>
      <vt:lpstr>Content</vt:lpstr>
      <vt:lpstr>Environmental Model Concept</vt:lpstr>
      <vt:lpstr>Input Parameters</vt:lpstr>
      <vt:lpstr>Calculation Method – 3 Phases of calculation</vt:lpstr>
      <vt:lpstr>Result parameters</vt:lpstr>
      <vt:lpstr>Questions to the Environmental model concept?</vt:lpstr>
      <vt:lpstr>Economical Model Concept</vt:lpstr>
      <vt:lpstr>Economic model – calculation method</vt:lpstr>
      <vt:lpstr>Questions to the Econimical model concept?</vt:lpstr>
      <vt:lpstr>THANK  YOU  FOR  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LCA Decision Tool Remarks</dc:title>
  <dc:creator>Sven Mauch</dc:creator>
  <cp:lastModifiedBy>Sven Mauch</cp:lastModifiedBy>
  <cp:revision>25</cp:revision>
  <cp:lastPrinted>2024-07-29T07:25:40Z</cp:lastPrinted>
  <dcterms:created xsi:type="dcterms:W3CDTF">2025-07-02T15:11:01Z</dcterms:created>
  <dcterms:modified xsi:type="dcterms:W3CDTF">2025-07-08T08:26:13Z</dcterms:modified>
</cp:coreProperties>
</file>